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Ex1.xml" ContentType="application/vnd.ms-office.chartex+xml"/>
  <Override PartName="/ppt/charts/style5.xml" ContentType="application/vnd.ms-office.chartstyle+xml"/>
  <Override PartName="/ppt/charts/colors5.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5.xml" ContentType="application/vnd.openxmlformats-officedocument.drawingml.chart+xml"/>
  <Override PartName="/ppt/charts/style6.xml" ContentType="application/vnd.ms-office.chartstyle+xml"/>
  <Override PartName="/ppt/charts/colors6.xml" ContentType="application/vnd.ms-office.chartcolorstyle+xml"/>
  <Override PartName="/ppt/charts/chart6.xml" ContentType="application/vnd.openxmlformats-officedocument.drawingml.chart+xml"/>
  <Override PartName="/ppt/charts/style7.xml" ContentType="application/vnd.ms-office.chartstyle+xml"/>
  <Override PartName="/ppt/charts/colors7.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Lst>
  <p:notesMasterIdLst>
    <p:notesMasterId r:id="rId12"/>
  </p:notesMasterIdLst>
  <p:sldIdLst>
    <p:sldId id="256" r:id="rId2"/>
    <p:sldId id="257" r:id="rId3"/>
    <p:sldId id="258" r:id="rId4"/>
    <p:sldId id="269" r:id="rId5"/>
    <p:sldId id="266" r:id="rId6"/>
    <p:sldId id="264" r:id="rId7"/>
    <p:sldId id="265" r:id="rId8"/>
    <p:sldId id="267" r:id="rId9"/>
    <p:sldId id="268" r:id="rId10"/>
    <p:sldId id="259"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368" autoAdjust="0"/>
  </p:normalViewPr>
  <p:slideViewPr>
    <p:cSldViewPr snapToGrid="0">
      <p:cViewPr varScale="1">
        <p:scale>
          <a:sx n="78" d="100"/>
          <a:sy n="78" d="100"/>
        </p:scale>
        <p:origin x="87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vnish\Desktop\Project%20BDM\analysi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vnish\Desktop\Project%20BDM\analysi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vnish\Desktop\Project%20BDM\analysi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Avnish\Desktop\Project%20BDM\analysi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vnish\Desktop\Project%20BDM\analysis.xlsx" TargetMode="External"/><Relationship Id="rId2" Type="http://schemas.microsoft.com/office/2011/relationships/chartColorStyle" Target="colors6.xml"/><Relationship Id="rId1" Type="http://schemas.microsoft.com/office/2011/relationships/chartStyle" Target="style6.xml"/></Relationships>
</file>

<file path=ppt/charts/_rels/chart6.xml.rels><?xml version="1.0" encoding="UTF-8" standalone="yes"?>
<Relationships xmlns="http://schemas.openxmlformats.org/package/2006/relationships"><Relationship Id="rId3" Type="http://schemas.openxmlformats.org/officeDocument/2006/relationships/oleObject" Target="file:///C:\Users\Avnish\Desktop\Project%20BDM\analysis.xlsx" TargetMode="External"/><Relationship Id="rId2" Type="http://schemas.microsoft.com/office/2011/relationships/chartColorStyle" Target="colors7.xml"/><Relationship Id="rId1" Type="http://schemas.microsoft.com/office/2011/relationships/chartStyle" Target="style7.xml"/></Relationships>
</file>

<file path=ppt/charts/_rels/chartEx1.xml.rels><?xml version="1.0" encoding="UTF-8" standalone="yes"?>
<Relationships xmlns="http://schemas.openxmlformats.org/package/2006/relationships"><Relationship Id="rId3" Type="http://schemas.microsoft.com/office/2011/relationships/chartColorStyle" Target="colors5.xml"/><Relationship Id="rId2" Type="http://schemas.microsoft.com/office/2011/relationships/chartStyle" Target="style5.xml"/><Relationship Id="rId1" Type="http://schemas.openxmlformats.org/officeDocument/2006/relationships/oleObject" Target="file:///C:\Users\Avnish\Desktop\Project%20BDM\analysi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'PURCHASE AND SALE'!$V$3</c:f>
              <c:strCache>
                <c:ptCount val="1"/>
                <c:pt idx="0">
                  <c:v>Sale Quantity</c:v>
                </c:pt>
              </c:strCache>
            </c:strRef>
          </c:tx>
          <c:spPr>
            <a:ln w="28575" cap="rnd">
              <a:solidFill>
                <a:schemeClr val="accent6"/>
              </a:solidFill>
              <a:round/>
            </a:ln>
            <a:effectLst/>
          </c:spPr>
          <c:marker>
            <c:symbol val="circle"/>
            <c:size val="5"/>
            <c:spPr>
              <a:solidFill>
                <a:schemeClr val="accent6"/>
              </a:solidFill>
              <a:ln w="9525">
                <a:solidFill>
                  <a:schemeClr val="accent6"/>
                </a:solidFill>
              </a:ln>
              <a:effectLst/>
            </c:spPr>
          </c:marker>
          <c:trendline>
            <c:spPr>
              <a:ln w="19050" cap="rnd">
                <a:solidFill>
                  <a:schemeClr val="accent6"/>
                </a:solidFill>
                <a:prstDash val="sysDot"/>
              </a:ln>
              <a:effectLst/>
            </c:spPr>
            <c:trendlineType val="linear"/>
            <c:dispRSqr val="0"/>
            <c:dispEq val="0"/>
          </c:trendline>
          <c:cat>
            <c:strRef>
              <c:f>'PURCHASE AND SALE'!$U$4:$U$15</c:f>
              <c:strCache>
                <c:ptCount val="12"/>
                <c:pt idx="0">
                  <c:v>August</c:v>
                </c:pt>
                <c:pt idx="1">
                  <c:v>September</c:v>
                </c:pt>
                <c:pt idx="2">
                  <c:v>October</c:v>
                </c:pt>
                <c:pt idx="3">
                  <c:v>November</c:v>
                </c:pt>
                <c:pt idx="4">
                  <c:v>December</c:v>
                </c:pt>
                <c:pt idx="5">
                  <c:v>January</c:v>
                </c:pt>
                <c:pt idx="6">
                  <c:v>February</c:v>
                </c:pt>
                <c:pt idx="7">
                  <c:v>March</c:v>
                </c:pt>
                <c:pt idx="8">
                  <c:v>April</c:v>
                </c:pt>
                <c:pt idx="9">
                  <c:v>May</c:v>
                </c:pt>
                <c:pt idx="10">
                  <c:v>June</c:v>
                </c:pt>
                <c:pt idx="11">
                  <c:v>July</c:v>
                </c:pt>
              </c:strCache>
            </c:strRef>
          </c:cat>
          <c:val>
            <c:numRef>
              <c:f>'PURCHASE AND SALE'!$V$4:$V$15</c:f>
              <c:numCache>
                <c:formatCode>General</c:formatCode>
                <c:ptCount val="12"/>
                <c:pt idx="0">
                  <c:v>38668.989999999947</c:v>
                </c:pt>
                <c:pt idx="1">
                  <c:v>29271.449999999957</c:v>
                </c:pt>
                <c:pt idx="2">
                  <c:v>32747.260000000002</c:v>
                </c:pt>
                <c:pt idx="3">
                  <c:v>33863.870000000039</c:v>
                </c:pt>
                <c:pt idx="4">
                  <c:v>40601.549999999988</c:v>
                </c:pt>
                <c:pt idx="5">
                  <c:v>37215.570000000029</c:v>
                </c:pt>
                <c:pt idx="6">
                  <c:v>53097.709999999992</c:v>
                </c:pt>
                <c:pt idx="7">
                  <c:v>39612.719999999965</c:v>
                </c:pt>
                <c:pt idx="8">
                  <c:v>29686.989999999983</c:v>
                </c:pt>
                <c:pt idx="9">
                  <c:v>33756.989999999969</c:v>
                </c:pt>
                <c:pt idx="10">
                  <c:v>30598.969999999983</c:v>
                </c:pt>
                <c:pt idx="11">
                  <c:v>25343.070000000014</c:v>
                </c:pt>
              </c:numCache>
            </c:numRef>
          </c:val>
          <c:smooth val="0"/>
          <c:extLst>
            <c:ext xmlns:c16="http://schemas.microsoft.com/office/drawing/2014/chart" uri="{C3380CC4-5D6E-409C-BE32-E72D297353CC}">
              <c16:uniqueId val="{00000001-4EE3-4CE1-A951-7BFB2ED9F701}"/>
            </c:ext>
          </c:extLst>
        </c:ser>
        <c:dLbls>
          <c:showLegendKey val="0"/>
          <c:showVal val="0"/>
          <c:showCatName val="0"/>
          <c:showSerName val="0"/>
          <c:showPercent val="0"/>
          <c:showBubbleSize val="0"/>
        </c:dLbls>
        <c:marker val="1"/>
        <c:smooth val="0"/>
        <c:axId val="1204356608"/>
        <c:axId val="1204370528"/>
      </c:lineChart>
      <c:catAx>
        <c:axId val="120435660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Months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04370528"/>
        <c:crosses val="autoZero"/>
        <c:auto val="1"/>
        <c:lblAlgn val="ctr"/>
        <c:lblOffset val="100"/>
        <c:noMultiLvlLbl val="0"/>
      </c:catAx>
      <c:valAx>
        <c:axId val="120437052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0"/>
              <a:lstStyle/>
              <a:p>
                <a:pPr>
                  <a:defRPr sz="1000" b="0" i="0" u="none" strike="noStrike" kern="1200" baseline="0">
                    <a:solidFill>
                      <a:schemeClr val="tx1">
                        <a:lumMod val="65000"/>
                        <a:lumOff val="35000"/>
                      </a:schemeClr>
                    </a:solidFill>
                    <a:latin typeface="+mn-lt"/>
                    <a:ea typeface="+mn-ea"/>
                    <a:cs typeface="+mn-cs"/>
                  </a:defRPr>
                </a:pPr>
                <a:r>
                  <a:rPr lang="en-IN"/>
                  <a:t>Total Sales in Kgs</a:t>
                </a:r>
              </a:p>
            </c:rich>
          </c:tx>
          <c:overlay val="0"/>
          <c:spPr>
            <a:noFill/>
            <a:ln>
              <a:noFill/>
            </a:ln>
            <a:effectLst/>
          </c:spPr>
          <c:txPr>
            <a:bodyPr rot="-5400000" spcFirstLastPara="1" vertOverflow="ellipsis" vert="horz" wrap="square" anchor="ctr" anchorCtr="0"/>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0435660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v>2024</c:v>
          </c:tx>
          <c:spPr>
            <a:gradFill rotWithShape="1">
              <a:gsLst>
                <a:gs pos="0">
                  <a:schemeClr val="accent2">
                    <a:tint val="98000"/>
                    <a:lumMod val="100000"/>
                  </a:schemeClr>
                </a:gs>
                <a:gs pos="100000">
                  <a:schemeClr val="accent2">
                    <a:shade val="88000"/>
                    <a:lumMod val="88000"/>
                  </a:schemeClr>
                </a:gs>
              </a:gsLst>
              <a:lin ang="5400000" scaled="1"/>
            </a:gradFill>
            <a:ln>
              <a:noFill/>
            </a:ln>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c:spPr>
          <c:invertIfNegative val="0"/>
          <c:cat>
            <c:strRef>
              <c:f>'BRAND SALE'!$A$3:$A$6</c:f>
              <c:strCache>
                <c:ptCount val="4"/>
                <c:pt idx="0">
                  <c:v>ALOM</c:v>
                </c:pt>
                <c:pt idx="1">
                  <c:v>HINDALCO</c:v>
                </c:pt>
                <c:pt idx="2">
                  <c:v>JINDAL</c:v>
                </c:pt>
                <c:pt idx="3">
                  <c:v>LOCAL</c:v>
                </c:pt>
              </c:strCache>
            </c:strRef>
          </c:cat>
          <c:val>
            <c:numRef>
              <c:f>'BRAND SALE'!$B$3:$B$6</c:f>
              <c:numCache>
                <c:formatCode>0.00</c:formatCode>
                <c:ptCount val="4"/>
                <c:pt idx="0">
                  <c:v>3349.400000000001</c:v>
                </c:pt>
                <c:pt idx="1">
                  <c:v>1481</c:v>
                </c:pt>
                <c:pt idx="2">
                  <c:v>56228.900000000038</c:v>
                </c:pt>
                <c:pt idx="3">
                  <c:v>188325.92000000033</c:v>
                </c:pt>
              </c:numCache>
            </c:numRef>
          </c:val>
          <c:extLst>
            <c:ext xmlns:c16="http://schemas.microsoft.com/office/drawing/2014/chart" uri="{C3380CC4-5D6E-409C-BE32-E72D297353CC}">
              <c16:uniqueId val="{00000000-74D2-4A9F-BCF8-FA7542EC7011}"/>
            </c:ext>
          </c:extLst>
        </c:ser>
        <c:ser>
          <c:idx val="1"/>
          <c:order val="1"/>
          <c:tx>
            <c:v>2023</c:v>
          </c:tx>
          <c:spPr>
            <a:gradFill rotWithShape="1">
              <a:gsLst>
                <a:gs pos="0">
                  <a:schemeClr val="accent4">
                    <a:tint val="98000"/>
                    <a:lumMod val="100000"/>
                  </a:schemeClr>
                </a:gs>
                <a:gs pos="100000">
                  <a:schemeClr val="accent4">
                    <a:shade val="88000"/>
                    <a:lumMod val="88000"/>
                  </a:schemeClr>
                </a:gs>
              </a:gsLst>
              <a:lin ang="5400000" scaled="1"/>
            </a:gradFill>
            <a:ln>
              <a:noFill/>
            </a:ln>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c:spPr>
          <c:invertIfNegative val="0"/>
          <c:cat>
            <c:strRef>
              <c:f>'BRAND SALE'!$A$3:$A$6</c:f>
              <c:strCache>
                <c:ptCount val="4"/>
                <c:pt idx="0">
                  <c:v>ALOM</c:v>
                </c:pt>
                <c:pt idx="1">
                  <c:v>HINDALCO</c:v>
                </c:pt>
                <c:pt idx="2">
                  <c:v>JINDAL</c:v>
                </c:pt>
                <c:pt idx="3">
                  <c:v>LOCAL</c:v>
                </c:pt>
              </c:strCache>
            </c:strRef>
          </c:cat>
          <c:val>
            <c:numRef>
              <c:f>'BRAND SALE'!$C$3:$C$6</c:f>
              <c:numCache>
                <c:formatCode>0.00</c:formatCode>
                <c:ptCount val="4"/>
                <c:pt idx="0">
                  <c:v>944.80000000000007</c:v>
                </c:pt>
                <c:pt idx="1">
                  <c:v>82</c:v>
                </c:pt>
                <c:pt idx="2">
                  <c:v>41318.359999999957</c:v>
                </c:pt>
                <c:pt idx="3">
                  <c:v>124208.07999999977</c:v>
                </c:pt>
              </c:numCache>
            </c:numRef>
          </c:val>
          <c:extLst>
            <c:ext xmlns:c16="http://schemas.microsoft.com/office/drawing/2014/chart" uri="{C3380CC4-5D6E-409C-BE32-E72D297353CC}">
              <c16:uniqueId val="{00000001-74D2-4A9F-BCF8-FA7542EC7011}"/>
            </c:ext>
          </c:extLst>
        </c:ser>
        <c:dLbls>
          <c:showLegendKey val="0"/>
          <c:showVal val="0"/>
          <c:showCatName val="0"/>
          <c:showSerName val="0"/>
          <c:showPercent val="0"/>
          <c:showBubbleSize val="0"/>
        </c:dLbls>
        <c:gapWidth val="150"/>
        <c:overlap val="100"/>
        <c:axId val="59948095"/>
        <c:axId val="59950495"/>
      </c:barChart>
      <c:catAx>
        <c:axId val="59948095"/>
        <c:scaling>
          <c:orientation val="minMax"/>
        </c:scaling>
        <c:delete val="0"/>
        <c:axPos val="b"/>
        <c:title>
          <c:tx>
            <c:rich>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r>
                  <a:rPr lang="en-IN"/>
                  <a:t>Brand</a:t>
                </a:r>
              </a:p>
            </c:rich>
          </c:tx>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9950495"/>
        <c:crosses val="autoZero"/>
        <c:auto val="1"/>
        <c:lblAlgn val="ctr"/>
        <c:lblOffset val="100"/>
        <c:noMultiLvlLbl val="0"/>
      </c:catAx>
      <c:valAx>
        <c:axId val="59950495"/>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r>
                  <a:rPr lang="en-IN"/>
                  <a:t>% Sale(Kg)</a:t>
                </a:r>
              </a:p>
            </c:rich>
          </c:tx>
          <c:overlay val="0"/>
          <c:spPr>
            <a:noFill/>
            <a:ln>
              <a:noFill/>
            </a:ln>
            <a:effectLst/>
          </c:spPr>
          <c:txPr>
            <a:bodyPr rot="-54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994809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explosion val="1"/>
          <c:dPt>
            <c:idx val="0"/>
            <c:bubble3D val="0"/>
            <c:spPr>
              <a:gradFill rotWithShape="1">
                <a:gsLst>
                  <a:gs pos="0">
                    <a:schemeClr val="accent1">
                      <a:tint val="98000"/>
                      <a:lumMod val="100000"/>
                    </a:schemeClr>
                  </a:gs>
                  <a:gs pos="100000">
                    <a:schemeClr val="accent1">
                      <a:shade val="88000"/>
                      <a:lumMod val="88000"/>
                    </a:schemeClr>
                  </a:gs>
                </a:gsLst>
                <a:lin ang="5400000" scaled="1"/>
              </a:gradFill>
              <a:ln>
                <a:noFill/>
              </a:ln>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c:spPr>
            <c:extLst>
              <c:ext xmlns:c16="http://schemas.microsoft.com/office/drawing/2014/chart" uri="{C3380CC4-5D6E-409C-BE32-E72D297353CC}">
                <c16:uniqueId val="{00000001-C70D-49A3-B8B4-66A9B26B763C}"/>
              </c:ext>
            </c:extLst>
          </c:dPt>
          <c:dPt>
            <c:idx val="1"/>
            <c:bubble3D val="0"/>
            <c:spPr>
              <a:gradFill rotWithShape="1">
                <a:gsLst>
                  <a:gs pos="0">
                    <a:schemeClr val="accent2">
                      <a:tint val="98000"/>
                      <a:lumMod val="100000"/>
                    </a:schemeClr>
                  </a:gs>
                  <a:gs pos="100000">
                    <a:schemeClr val="accent2">
                      <a:shade val="88000"/>
                      <a:lumMod val="88000"/>
                    </a:schemeClr>
                  </a:gs>
                </a:gsLst>
                <a:lin ang="5400000" scaled="1"/>
              </a:gradFill>
              <a:ln>
                <a:noFill/>
              </a:ln>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c:spPr>
            <c:extLst>
              <c:ext xmlns:c16="http://schemas.microsoft.com/office/drawing/2014/chart" uri="{C3380CC4-5D6E-409C-BE32-E72D297353CC}">
                <c16:uniqueId val="{00000003-C70D-49A3-B8B4-66A9B26B763C}"/>
              </c:ext>
            </c:extLst>
          </c:dPt>
          <c:dPt>
            <c:idx val="2"/>
            <c:bubble3D val="0"/>
            <c:spPr>
              <a:gradFill rotWithShape="1">
                <a:gsLst>
                  <a:gs pos="0">
                    <a:schemeClr val="accent3">
                      <a:tint val="98000"/>
                      <a:lumMod val="100000"/>
                    </a:schemeClr>
                  </a:gs>
                  <a:gs pos="100000">
                    <a:schemeClr val="accent3">
                      <a:shade val="88000"/>
                      <a:lumMod val="88000"/>
                    </a:schemeClr>
                  </a:gs>
                </a:gsLst>
                <a:lin ang="5400000" scaled="1"/>
              </a:gradFill>
              <a:ln>
                <a:noFill/>
              </a:ln>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c:spPr>
            <c:extLst>
              <c:ext xmlns:c16="http://schemas.microsoft.com/office/drawing/2014/chart" uri="{C3380CC4-5D6E-409C-BE32-E72D297353CC}">
                <c16:uniqueId val="{00000005-C70D-49A3-B8B4-66A9B26B763C}"/>
              </c:ext>
            </c:extLst>
          </c:dPt>
          <c:dPt>
            <c:idx val="3"/>
            <c:bubble3D val="0"/>
            <c:spPr>
              <a:gradFill rotWithShape="1">
                <a:gsLst>
                  <a:gs pos="0">
                    <a:schemeClr val="accent4">
                      <a:tint val="98000"/>
                      <a:lumMod val="100000"/>
                    </a:schemeClr>
                  </a:gs>
                  <a:gs pos="100000">
                    <a:schemeClr val="accent4">
                      <a:shade val="88000"/>
                      <a:lumMod val="88000"/>
                    </a:schemeClr>
                  </a:gs>
                </a:gsLst>
                <a:lin ang="5400000" scaled="1"/>
              </a:gradFill>
              <a:ln>
                <a:noFill/>
              </a:ln>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c:spPr>
            <c:extLst>
              <c:ext xmlns:c16="http://schemas.microsoft.com/office/drawing/2014/chart" uri="{C3380CC4-5D6E-409C-BE32-E72D297353CC}">
                <c16:uniqueId val="{00000007-C70D-49A3-B8B4-66A9B26B763C}"/>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Sheet3!$D$5:$D$8</c:f>
              <c:strCache>
                <c:ptCount val="4"/>
                <c:pt idx="0">
                  <c:v>ALOM</c:v>
                </c:pt>
                <c:pt idx="1">
                  <c:v>HINDALCO</c:v>
                </c:pt>
                <c:pt idx="2">
                  <c:v>JINDAL</c:v>
                </c:pt>
                <c:pt idx="3">
                  <c:v>LOCAL</c:v>
                </c:pt>
              </c:strCache>
            </c:strRef>
          </c:cat>
          <c:val>
            <c:numRef>
              <c:f>Sheet3!$F$5:$F$8</c:f>
              <c:numCache>
                <c:formatCode>0%</c:formatCode>
                <c:ptCount val="4"/>
                <c:pt idx="0">
                  <c:v>1.821244844822115E-2</c:v>
                </c:pt>
                <c:pt idx="1">
                  <c:v>1.2978410978360666E-2</c:v>
                </c:pt>
                <c:pt idx="2">
                  <c:v>0.3418653587982734</c:v>
                </c:pt>
                <c:pt idx="3">
                  <c:v>0.62694378177514476</c:v>
                </c:pt>
              </c:numCache>
            </c:numRef>
          </c:val>
          <c:extLst>
            <c:ext xmlns:c16="http://schemas.microsoft.com/office/drawing/2014/chart" uri="{C3380CC4-5D6E-409C-BE32-E72D297353CC}">
              <c16:uniqueId val="{00000008-C70D-49A3-B8B4-66A9B26B763C}"/>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'BRAND SALE'!$P$1:$P$2</c:f>
              <c:strCache>
                <c:ptCount val="2"/>
                <c:pt idx="0">
                  <c:v>FAMILY WISE SALES</c:v>
                </c:pt>
                <c:pt idx="1">
                  <c:v>2023</c:v>
                </c:pt>
              </c:strCache>
            </c:strRef>
          </c:tx>
          <c:spPr>
            <a:solidFill>
              <a:schemeClr val="accent2"/>
            </a:solidFill>
            <a:ln>
              <a:noFill/>
            </a:ln>
            <a:effectLst/>
          </c:spPr>
          <c:invertIfNegative val="0"/>
          <c:cat>
            <c:strRef>
              <c:f>'BRAND SALE'!$O$3:$O$15</c:f>
              <c:strCache>
                <c:ptCount val="13"/>
                <c:pt idx="0">
                  <c:v>RECT TUBE</c:v>
                </c:pt>
                <c:pt idx="1">
                  <c:v>CWALL</c:v>
                </c:pt>
                <c:pt idx="2">
                  <c:v>PARTITION</c:v>
                </c:pt>
                <c:pt idx="3">
                  <c:v>SLIDING NORMAL</c:v>
                </c:pt>
                <c:pt idx="4">
                  <c:v>SQUARE</c:v>
                </c:pt>
                <c:pt idx="5">
                  <c:v>CASEM EURO</c:v>
                </c:pt>
                <c:pt idx="6">
                  <c:v>SLIDING EURO</c:v>
                </c:pt>
                <c:pt idx="7">
                  <c:v>CASEM</c:v>
                </c:pt>
                <c:pt idx="8">
                  <c:v>ANGLE</c:v>
                </c:pt>
                <c:pt idx="9">
                  <c:v>MISC</c:v>
                </c:pt>
                <c:pt idx="10">
                  <c:v>SLIDING DOOR</c:v>
                </c:pt>
                <c:pt idx="11">
                  <c:v>SLIM SERIES</c:v>
                </c:pt>
                <c:pt idx="12">
                  <c:v>FLAT BAR</c:v>
                </c:pt>
              </c:strCache>
            </c:strRef>
          </c:cat>
          <c:val>
            <c:numRef>
              <c:f>'BRAND SALE'!$P$3:$P$15</c:f>
              <c:numCache>
                <c:formatCode>General</c:formatCode>
                <c:ptCount val="13"/>
                <c:pt idx="0">
                  <c:v>57594.03</c:v>
                </c:pt>
                <c:pt idx="1">
                  <c:v>24346.63999999997</c:v>
                </c:pt>
                <c:pt idx="2">
                  <c:v>20308.080000000009</c:v>
                </c:pt>
                <c:pt idx="3">
                  <c:v>8031.1699999999992</c:v>
                </c:pt>
                <c:pt idx="4">
                  <c:v>17581.779999999995</c:v>
                </c:pt>
                <c:pt idx="5">
                  <c:v>5507.9000000000005</c:v>
                </c:pt>
                <c:pt idx="6">
                  <c:v>5827.8600000000006</c:v>
                </c:pt>
                <c:pt idx="7">
                  <c:v>755.35</c:v>
                </c:pt>
                <c:pt idx="8">
                  <c:v>2758.8599999999992</c:v>
                </c:pt>
                <c:pt idx="9">
                  <c:v>3979.75</c:v>
                </c:pt>
                <c:pt idx="10">
                  <c:v>4122.6400000000003</c:v>
                </c:pt>
                <c:pt idx="11">
                  <c:v>153.07999999999998</c:v>
                </c:pt>
                <c:pt idx="12">
                  <c:v>369.57</c:v>
                </c:pt>
              </c:numCache>
            </c:numRef>
          </c:val>
          <c:extLst>
            <c:ext xmlns:c16="http://schemas.microsoft.com/office/drawing/2014/chart" uri="{C3380CC4-5D6E-409C-BE32-E72D297353CC}">
              <c16:uniqueId val="{00000000-B5B3-4AEB-82E7-3415299A7A97}"/>
            </c:ext>
          </c:extLst>
        </c:ser>
        <c:ser>
          <c:idx val="1"/>
          <c:order val="1"/>
          <c:tx>
            <c:strRef>
              <c:f>'BRAND SALE'!$Q$1:$Q$2</c:f>
              <c:strCache>
                <c:ptCount val="2"/>
                <c:pt idx="0">
                  <c:v>FAMILY WISE SALES</c:v>
                </c:pt>
                <c:pt idx="1">
                  <c:v>2024</c:v>
                </c:pt>
              </c:strCache>
            </c:strRef>
          </c:tx>
          <c:spPr>
            <a:solidFill>
              <a:schemeClr val="accent4"/>
            </a:solidFill>
            <a:ln>
              <a:noFill/>
            </a:ln>
            <a:effectLst/>
          </c:spPr>
          <c:invertIfNegative val="0"/>
          <c:cat>
            <c:strRef>
              <c:f>'BRAND SALE'!$O$3:$O$15</c:f>
              <c:strCache>
                <c:ptCount val="13"/>
                <c:pt idx="0">
                  <c:v>RECT TUBE</c:v>
                </c:pt>
                <c:pt idx="1">
                  <c:v>CWALL</c:v>
                </c:pt>
                <c:pt idx="2">
                  <c:v>PARTITION</c:v>
                </c:pt>
                <c:pt idx="3">
                  <c:v>SLIDING NORMAL</c:v>
                </c:pt>
                <c:pt idx="4">
                  <c:v>SQUARE</c:v>
                </c:pt>
                <c:pt idx="5">
                  <c:v>CASEM EURO</c:v>
                </c:pt>
                <c:pt idx="6">
                  <c:v>SLIDING EURO</c:v>
                </c:pt>
                <c:pt idx="7">
                  <c:v>CASEM</c:v>
                </c:pt>
                <c:pt idx="8">
                  <c:v>ANGLE</c:v>
                </c:pt>
                <c:pt idx="9">
                  <c:v>MISC</c:v>
                </c:pt>
                <c:pt idx="10">
                  <c:v>SLIDING DOOR</c:v>
                </c:pt>
                <c:pt idx="11">
                  <c:v>SLIM SERIES</c:v>
                </c:pt>
                <c:pt idx="12">
                  <c:v>FLAT BAR</c:v>
                </c:pt>
              </c:strCache>
            </c:strRef>
          </c:cat>
          <c:val>
            <c:numRef>
              <c:f>'BRAND SALE'!$Q$3:$Q$15</c:f>
              <c:numCache>
                <c:formatCode>General</c:formatCode>
                <c:ptCount val="13"/>
                <c:pt idx="0">
                  <c:v>72704.97</c:v>
                </c:pt>
                <c:pt idx="1">
                  <c:v>48156.489999999903</c:v>
                </c:pt>
                <c:pt idx="2">
                  <c:v>31570.329999999951</c:v>
                </c:pt>
                <c:pt idx="3">
                  <c:v>23134.629999999983</c:v>
                </c:pt>
                <c:pt idx="4">
                  <c:v>21732.620000000006</c:v>
                </c:pt>
                <c:pt idx="5">
                  <c:v>11756.190000000008</c:v>
                </c:pt>
                <c:pt idx="6">
                  <c:v>9151.94</c:v>
                </c:pt>
                <c:pt idx="7">
                  <c:v>7496.0300000000034</c:v>
                </c:pt>
                <c:pt idx="8">
                  <c:v>6596.0599999999986</c:v>
                </c:pt>
                <c:pt idx="9">
                  <c:v>5601.5899999999983</c:v>
                </c:pt>
                <c:pt idx="10">
                  <c:v>3459.9500000000003</c:v>
                </c:pt>
                <c:pt idx="11">
                  <c:v>3100.6499999999992</c:v>
                </c:pt>
                <c:pt idx="12">
                  <c:v>431.94</c:v>
                </c:pt>
              </c:numCache>
            </c:numRef>
          </c:val>
          <c:extLst>
            <c:ext xmlns:c16="http://schemas.microsoft.com/office/drawing/2014/chart" uri="{C3380CC4-5D6E-409C-BE32-E72D297353CC}">
              <c16:uniqueId val="{00000001-B5B3-4AEB-82E7-3415299A7A97}"/>
            </c:ext>
          </c:extLst>
        </c:ser>
        <c:dLbls>
          <c:showLegendKey val="0"/>
          <c:showVal val="0"/>
          <c:showCatName val="0"/>
          <c:showSerName val="0"/>
          <c:showPercent val="0"/>
          <c:showBubbleSize val="0"/>
        </c:dLbls>
        <c:gapWidth val="150"/>
        <c:overlap val="100"/>
        <c:axId val="393921232"/>
        <c:axId val="393910672"/>
      </c:barChart>
      <c:catAx>
        <c:axId val="39392123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Family Name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93910672"/>
        <c:crosses val="autoZero"/>
        <c:auto val="1"/>
        <c:lblAlgn val="ctr"/>
        <c:lblOffset val="100"/>
        <c:noMultiLvlLbl val="0"/>
      </c:catAx>
      <c:valAx>
        <c:axId val="39391067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 Sale</a:t>
                </a:r>
                <a:r>
                  <a:rPr lang="en-IN" baseline="0"/>
                  <a:t>(Kg)</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9392123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533515919205753"/>
          <c:y val="2.5428331875182269E-2"/>
          <c:w val="0.66697945908935297"/>
          <c:h val="0.74350320793234181"/>
        </c:manualLayout>
      </c:layout>
      <c:lineChart>
        <c:grouping val="stacked"/>
        <c:varyColors val="0"/>
        <c:ser>
          <c:idx val="0"/>
          <c:order val="0"/>
          <c:tx>
            <c:strRef>
              <c:f>'PURCHASE AND SALE'!$R$22</c:f>
              <c:strCache>
                <c:ptCount val="1"/>
                <c:pt idx="0">
                  <c:v>Net Qunatity</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'PURCHASE AND SALE'!$Q$23:$Q$25</c:f>
              <c:strCache>
                <c:ptCount val="3"/>
                <c:pt idx="0">
                  <c:v>2022</c:v>
                </c:pt>
                <c:pt idx="1">
                  <c:v>2023</c:v>
                </c:pt>
                <c:pt idx="2">
                  <c:v>2024</c:v>
                </c:pt>
              </c:strCache>
            </c:strRef>
          </c:cat>
          <c:val>
            <c:numRef>
              <c:f>'PURCHASE AND SALE'!$R$23:$R$25</c:f>
              <c:numCache>
                <c:formatCode>General</c:formatCode>
                <c:ptCount val="3"/>
                <c:pt idx="0">
                  <c:v>4744.4400000000005</c:v>
                </c:pt>
                <c:pt idx="1">
                  <c:v>19413.430000000008</c:v>
                </c:pt>
                <c:pt idx="2">
                  <c:v>47558.430000000073</c:v>
                </c:pt>
              </c:numCache>
            </c:numRef>
          </c:val>
          <c:smooth val="0"/>
          <c:extLst>
            <c:ext xmlns:c16="http://schemas.microsoft.com/office/drawing/2014/chart" uri="{C3380CC4-5D6E-409C-BE32-E72D297353CC}">
              <c16:uniqueId val="{00000000-6ADC-41B8-981E-3DBAA6A0BCC6}"/>
            </c:ext>
          </c:extLst>
        </c:ser>
        <c:dLbls>
          <c:dLblPos val="t"/>
          <c:showLegendKey val="0"/>
          <c:showVal val="1"/>
          <c:showCatName val="0"/>
          <c:showSerName val="0"/>
          <c:showPercent val="0"/>
          <c:showBubbleSize val="0"/>
        </c:dLbls>
        <c:marker val="1"/>
        <c:smooth val="0"/>
        <c:axId val="1418868623"/>
        <c:axId val="1418873423"/>
      </c:lineChart>
      <c:catAx>
        <c:axId val="1418868623"/>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Years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18873423"/>
        <c:crosses val="autoZero"/>
        <c:auto val="1"/>
        <c:lblAlgn val="ctr"/>
        <c:lblOffset val="100"/>
        <c:noMultiLvlLbl val="0"/>
      </c:catAx>
      <c:valAx>
        <c:axId val="141887342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Net Qty.</a:t>
                </a:r>
                <a:r>
                  <a:rPr lang="en-IN" baseline="0"/>
                  <a:t> in kgs</a:t>
                </a:r>
                <a:endParaRPr lang="en-IN"/>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1886862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'PURCHASE AND SALE'!$R$29</c:f>
              <c:strCache>
                <c:ptCount val="1"/>
                <c:pt idx="0">
                  <c:v>Net Pcs</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'PURCHASE AND SALE'!$Q$30:$Q$32</c:f>
              <c:strCache>
                <c:ptCount val="3"/>
                <c:pt idx="0">
                  <c:v>2022</c:v>
                </c:pt>
                <c:pt idx="1">
                  <c:v>2023</c:v>
                </c:pt>
                <c:pt idx="2">
                  <c:v>2024</c:v>
                </c:pt>
              </c:strCache>
            </c:strRef>
          </c:cat>
          <c:val>
            <c:numRef>
              <c:f>'PURCHASE AND SALE'!$R$30:$R$32</c:f>
              <c:numCache>
                <c:formatCode>General</c:formatCode>
                <c:ptCount val="3"/>
                <c:pt idx="0">
                  <c:v>183</c:v>
                </c:pt>
                <c:pt idx="1">
                  <c:v>4297</c:v>
                </c:pt>
                <c:pt idx="2">
                  <c:v>4487</c:v>
                </c:pt>
              </c:numCache>
            </c:numRef>
          </c:val>
          <c:smooth val="0"/>
          <c:extLst>
            <c:ext xmlns:c16="http://schemas.microsoft.com/office/drawing/2014/chart" uri="{C3380CC4-5D6E-409C-BE32-E72D297353CC}">
              <c16:uniqueId val="{00000000-B151-4B44-B9B7-18DD1EF2C9FC}"/>
            </c:ext>
          </c:extLst>
        </c:ser>
        <c:dLbls>
          <c:dLblPos val="ctr"/>
          <c:showLegendKey val="0"/>
          <c:showVal val="1"/>
          <c:showCatName val="0"/>
          <c:showSerName val="0"/>
          <c:showPercent val="0"/>
          <c:showBubbleSize val="0"/>
        </c:dLbls>
        <c:smooth val="0"/>
        <c:axId val="698326336"/>
        <c:axId val="698329216"/>
      </c:lineChart>
      <c:catAx>
        <c:axId val="698326336"/>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IN"/>
                  <a:t>Years</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98329216"/>
        <c:crosses val="autoZero"/>
        <c:auto val="1"/>
        <c:lblAlgn val="ctr"/>
        <c:lblOffset val="100"/>
        <c:noMultiLvlLbl val="0"/>
      </c:catAx>
      <c:valAx>
        <c:axId val="69832921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IN"/>
                  <a:t>Net Pcs in count</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983263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PROPORTION!$I$3:$I$16</cx:f>
        <cx:lvl ptCount="14">
          <cx:pt idx="0">RECT TUBE</cx:pt>
          <cx:pt idx="1">CWALL</cx:pt>
          <cx:pt idx="2">PARTITION</cx:pt>
          <cx:pt idx="3">SLIDING NORMAL</cx:pt>
          <cx:pt idx="4">SQUARE</cx:pt>
          <cx:pt idx="5">CASEM EURO</cx:pt>
          <cx:pt idx="6">SLIDING EURO</cx:pt>
          <cx:pt idx="7">CASEM</cx:pt>
          <cx:pt idx="8">ANGLE</cx:pt>
          <cx:pt idx="9">MISC</cx:pt>
          <cx:pt idx="10">SLIDING DOOR</cx:pt>
          <cx:pt idx="11">SLIM SERIES</cx:pt>
          <cx:pt idx="12">FLAT BAR</cx:pt>
          <cx:pt idx="13">EURO SLIDING</cx:pt>
        </cx:lvl>
      </cx:strDim>
      <cx:numDim type="val">
        <cx:f>PROPORTION!$J$3:$J$16</cx:f>
        <cx:lvl ptCount="14" formatCode="General">
          <cx:pt idx="0">72704.969999999856</cx:pt>
          <cx:pt idx="1">48083.290000000023</cx:pt>
          <cx:pt idx="2">31570.329999999987</cx:pt>
          <cx:pt idx="3">23134.629999999968</cx:pt>
          <cx:pt idx="4">21732.619999999984</cx:pt>
          <cx:pt idx="5">11756.18999999999</cx:pt>
          <cx:pt idx="6">9151.9400000000005</cx:pt>
          <cx:pt idx="7">7496.0300000000016</cx:pt>
          <cx:pt idx="8">6596.0599999999995</cx:pt>
          <cx:pt idx="9">5601.5900000000001</cx:pt>
          <cx:pt idx="10">3459.9500000000003</cx:pt>
          <cx:pt idx="11">3100.650000000001</cx:pt>
          <cx:pt idx="12">431.93999999999994</cx:pt>
          <cx:pt idx="13">276.24000000000001</cx:pt>
        </cx:lvl>
      </cx:numDim>
    </cx:data>
  </cx:chartData>
  <cx:chart>
    <cx:plotArea>
      <cx:plotAreaRegion>
        <cx:series layoutId="clusteredColumn" uniqueId="{9320970C-2112-4620-84B6-AF8F23CE4B21}">
          <cx:tx>
            <cx:txData>
              <cx:f>PROPORTION!$J$1:$J$2</cx:f>
              <cx:v>Sum of ISSUE QTY
WT</cx:v>
            </cx:txData>
          </cx:tx>
          <cx:dataId val="0"/>
          <cx:layoutPr>
            <cx:aggregation/>
          </cx:layoutPr>
          <cx:axisId val="1"/>
        </cx:series>
        <cx:series layoutId="paretoLine" ownerIdx="0" uniqueId="{4DE55C39-929C-4464-9E76-85ACE9A93566}">
          <cx:axisId val="2"/>
        </cx:series>
      </cx:plotAreaRegion>
      <cx:axis id="0">
        <cx:catScaling gapWidth="0"/>
        <cx:title>
          <cx:tx>
            <cx:rich>
              <a:bodyPr spcFirstLastPara="1" vertOverflow="ellipsis" horzOverflow="overflow" wrap="square" lIns="0" tIns="0" rIns="0" bIns="0" anchor="ctr" anchorCtr="1"/>
              <a:lstStyle/>
              <a:p>
                <a:pPr algn="ctr" rtl="0">
                  <a:defRPr>
                    <a:latin typeface="Calibri (Body)"/>
                    <a:ea typeface="Calibri (Body)"/>
                    <a:cs typeface="Calibri (Body)"/>
                  </a:defRPr>
                </a:pPr>
                <a:r>
                  <a:rPr lang="en-US" sz="900" b="0" i="0" u="none" strike="noStrike" cap="none" spc="0" baseline="0" dirty="0">
                    <a:ln w="0"/>
                    <a:solidFill>
                      <a:schemeClr val="tx1"/>
                    </a:solidFill>
                    <a:effectLst>
                      <a:outerShdw blurRad="38100" dist="19050" dir="2700000" algn="tl" rotWithShape="0">
                        <a:schemeClr val="dk1">
                          <a:alpha val="40000"/>
                        </a:schemeClr>
                      </a:outerShdw>
                    </a:effectLst>
                    <a:latin typeface="Calibri (Body)"/>
                  </a:rPr>
                  <a:t>Family</a:t>
                </a:r>
                <a:r>
                  <a:rPr lang="en-US" sz="900" b="0" i="0" u="none" strike="noStrike" baseline="0" dirty="0">
                    <a:solidFill>
                      <a:sysClr val="windowText" lastClr="000000">
                        <a:lumMod val="65000"/>
                        <a:lumOff val="35000"/>
                      </a:sysClr>
                    </a:solidFill>
                    <a:latin typeface="Calibri (Body)"/>
                  </a:rPr>
                  <a:t> </a:t>
                </a:r>
                <a:r>
                  <a:rPr lang="en-US" sz="900" b="0" i="0" u="none" strike="noStrike" cap="none" spc="0" baseline="0" dirty="0">
                    <a:ln w="0"/>
                    <a:solidFill>
                      <a:schemeClr val="tx1"/>
                    </a:solidFill>
                    <a:effectLst>
                      <a:outerShdw blurRad="38100" dist="19050" dir="2700000" algn="tl" rotWithShape="0">
                        <a:schemeClr val="dk1">
                          <a:alpha val="40000"/>
                        </a:schemeClr>
                      </a:outerShdw>
                    </a:effectLst>
                    <a:latin typeface="Calibri (Body)"/>
                  </a:rPr>
                  <a:t>Name</a:t>
                </a:r>
                <a:endParaRPr lang="en-US" sz="900" b="0" i="0" u="none" strike="noStrike" baseline="0" dirty="0">
                  <a:solidFill>
                    <a:sysClr val="windowText" lastClr="000000">
                      <a:lumMod val="65000"/>
                      <a:lumOff val="35000"/>
                    </a:sysClr>
                  </a:solidFill>
                  <a:latin typeface="Calibri (Body)"/>
                </a:endParaRPr>
              </a:p>
            </cx:rich>
          </cx:tx>
        </cx:title>
        <cx:tickLabels/>
      </cx:axis>
      <cx:axis id="1">
        <cx:valScaling/>
        <cx:title>
          <cx:tx>
            <cx:rich>
              <a:bodyPr spcFirstLastPara="1" vertOverflow="ellipsis" horzOverflow="overflow" wrap="square" lIns="0" tIns="0" rIns="0" bIns="0" anchor="ctr" anchorCtr="1"/>
              <a:lstStyle/>
              <a:p>
                <a:pPr algn="ctr" rtl="0">
                  <a:defRPr>
                    <a:latin typeface="Calibri (Body)"/>
                    <a:ea typeface="Calibri (Body)"/>
                    <a:cs typeface="Calibri (Body)"/>
                  </a:defRPr>
                </a:pPr>
                <a:r>
                  <a:rPr lang="en-US" sz="900" b="0" i="0" u="none" strike="noStrike" cap="none" spc="0" baseline="0" dirty="0">
                    <a:ln w="0"/>
                    <a:solidFill>
                      <a:schemeClr val="tx1"/>
                    </a:solidFill>
                    <a:effectLst>
                      <a:outerShdw blurRad="38100" dist="19050" dir="2700000" algn="tl" rotWithShape="0">
                        <a:schemeClr val="dk1">
                          <a:alpha val="40000"/>
                        </a:schemeClr>
                      </a:outerShdw>
                    </a:effectLst>
                    <a:latin typeface="Calibri (Body)"/>
                  </a:rPr>
                  <a:t>Sale</a:t>
                </a:r>
                <a:r>
                  <a:rPr lang="en-US" sz="900" b="0" i="0" u="none" strike="noStrike" baseline="0" dirty="0">
                    <a:solidFill>
                      <a:sysClr val="windowText" lastClr="000000">
                        <a:lumMod val="65000"/>
                        <a:lumOff val="35000"/>
                      </a:sysClr>
                    </a:solidFill>
                    <a:latin typeface="Calibri (Body)"/>
                  </a:rPr>
                  <a:t> </a:t>
                </a:r>
                <a:r>
                  <a:rPr lang="en-US" sz="900" b="0" i="0" u="none" strike="noStrike" cap="none" spc="0" baseline="0" dirty="0">
                    <a:ln w="0"/>
                    <a:solidFill>
                      <a:schemeClr val="tx1"/>
                    </a:solidFill>
                    <a:effectLst>
                      <a:outerShdw blurRad="38100" dist="19050" dir="2700000" algn="tl" rotWithShape="0">
                        <a:schemeClr val="dk1">
                          <a:alpha val="40000"/>
                        </a:schemeClr>
                      </a:outerShdw>
                    </a:effectLst>
                    <a:latin typeface="Calibri (Body)"/>
                  </a:rPr>
                  <a:t>Qty</a:t>
                </a:r>
                <a:r>
                  <a:rPr lang="en-US" sz="900" b="0" i="0" u="none" strike="noStrike" baseline="0" dirty="0">
                    <a:solidFill>
                      <a:sysClr val="windowText" lastClr="000000">
                        <a:lumMod val="65000"/>
                        <a:lumOff val="35000"/>
                      </a:sysClr>
                    </a:solidFill>
                    <a:latin typeface="Calibri (Body)"/>
                  </a:rPr>
                  <a:t> </a:t>
                </a:r>
                <a:r>
                  <a:rPr lang="en-US" sz="900" b="0" i="0" u="none" strike="noStrike" cap="none" spc="0" baseline="0" dirty="0">
                    <a:ln w="0"/>
                    <a:solidFill>
                      <a:schemeClr val="tx1"/>
                    </a:solidFill>
                    <a:effectLst>
                      <a:outerShdw blurRad="38100" dist="19050" dir="2700000" algn="tl" rotWithShape="0">
                        <a:schemeClr val="dk1">
                          <a:alpha val="40000"/>
                        </a:schemeClr>
                      </a:outerShdw>
                    </a:effectLst>
                    <a:latin typeface="Calibri (Body)"/>
                  </a:rPr>
                  <a:t>in</a:t>
                </a:r>
                <a:r>
                  <a:rPr lang="en-US" sz="900" b="0" i="0" u="none" strike="noStrike" baseline="0" dirty="0">
                    <a:solidFill>
                      <a:sysClr val="windowText" lastClr="000000">
                        <a:lumMod val="65000"/>
                        <a:lumOff val="35000"/>
                      </a:sysClr>
                    </a:solidFill>
                    <a:latin typeface="Calibri (Body)"/>
                  </a:rPr>
                  <a:t> </a:t>
                </a:r>
                <a:r>
                  <a:rPr lang="en-US" sz="900" b="0" i="0" u="none" strike="noStrike" cap="none" spc="0" baseline="0" dirty="0">
                    <a:ln w="0"/>
                    <a:solidFill>
                      <a:schemeClr val="tx1"/>
                    </a:solidFill>
                    <a:effectLst>
                      <a:outerShdw blurRad="38100" dist="19050" dir="2700000" algn="tl" rotWithShape="0">
                        <a:schemeClr val="dk1">
                          <a:alpha val="40000"/>
                        </a:schemeClr>
                      </a:outerShdw>
                    </a:effectLst>
                    <a:latin typeface="Calibri (Body)"/>
                  </a:rPr>
                  <a:t>Kgs</a:t>
                </a:r>
                <a:endParaRPr lang="en-US" sz="900" b="0" i="0" u="none" strike="noStrike" baseline="0" dirty="0">
                  <a:solidFill>
                    <a:sysClr val="windowText" lastClr="000000">
                      <a:lumMod val="65000"/>
                      <a:lumOff val="35000"/>
                    </a:sysClr>
                  </a:solidFill>
                  <a:latin typeface="Calibri (Body)"/>
                </a:endParaRPr>
              </a:p>
            </cx:rich>
          </cx:tx>
        </cx:title>
        <cx:majorGridlines/>
        <cx:tickLabels/>
      </cx:axis>
      <cx:axis id="2">
        <cx:valScaling max="1" min="0"/>
        <cx:units unit="percentage"/>
        <cx:tickLabels/>
      </cx:axis>
    </cx:plotArea>
  </cx:chart>
</cx: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48">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743E5F-F68D-4D03-9447-F00A2B7FDDCE}" type="datetimeFigureOut">
              <a:rPr lang="en-IN" smtClean="0"/>
              <a:t>02-12-2024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FE4B7E-8DD2-4421-9884-7FB333709B6E}" type="slidenum">
              <a:rPr lang="en-IN" smtClean="0"/>
              <a:t>‹#›</a:t>
            </a:fld>
            <a:endParaRPr lang="en-IN"/>
          </a:p>
        </p:txBody>
      </p:sp>
    </p:spTree>
    <p:extLst>
      <p:ext uri="{BB962C8B-B14F-4D97-AF65-F5344CB8AC3E}">
        <p14:creationId xmlns:p14="http://schemas.microsoft.com/office/powerpoint/2010/main" val="860880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7FE4B7E-8DD2-4421-9884-7FB333709B6E}" type="slidenum">
              <a:rPr lang="en-IN" smtClean="0"/>
              <a:t>4</a:t>
            </a:fld>
            <a:endParaRPr lang="en-IN"/>
          </a:p>
        </p:txBody>
      </p:sp>
    </p:spTree>
    <p:extLst>
      <p:ext uri="{BB962C8B-B14F-4D97-AF65-F5344CB8AC3E}">
        <p14:creationId xmlns:p14="http://schemas.microsoft.com/office/powerpoint/2010/main" val="8164632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7FE4B7E-8DD2-4421-9884-7FB333709B6E}" type="slidenum">
              <a:rPr lang="en-IN" smtClean="0"/>
              <a:t>7</a:t>
            </a:fld>
            <a:endParaRPr lang="en-IN"/>
          </a:p>
        </p:txBody>
      </p:sp>
    </p:spTree>
    <p:extLst>
      <p:ext uri="{BB962C8B-B14F-4D97-AF65-F5344CB8AC3E}">
        <p14:creationId xmlns:p14="http://schemas.microsoft.com/office/powerpoint/2010/main" val="26561975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7FE4B7E-8DD2-4421-9884-7FB333709B6E}" type="slidenum">
              <a:rPr lang="en-IN" smtClean="0"/>
              <a:t>8</a:t>
            </a:fld>
            <a:endParaRPr lang="en-IN"/>
          </a:p>
        </p:txBody>
      </p:sp>
    </p:spTree>
    <p:extLst>
      <p:ext uri="{BB962C8B-B14F-4D97-AF65-F5344CB8AC3E}">
        <p14:creationId xmlns:p14="http://schemas.microsoft.com/office/powerpoint/2010/main" val="12971338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851A50D9-2383-4A99-A437-A612C9F8165B}" type="datetimeFigureOut">
              <a:rPr lang="en-IN" smtClean="0"/>
              <a:t>02-12-2024</a:t>
            </a:fld>
            <a:endParaRPr lang="en-IN"/>
          </a:p>
        </p:txBody>
      </p:sp>
      <p:sp>
        <p:nvSpPr>
          <p:cNvPr id="5" name="Footer Placeholder 4"/>
          <p:cNvSpPr>
            <a:spLocks noGrp="1"/>
          </p:cNvSpPr>
          <p:nvPr>
            <p:ph type="ftr" sz="quarter" idx="11"/>
          </p:nvPr>
        </p:nvSpPr>
        <p:spPr>
          <a:xfrm>
            <a:off x="3962399" y="5870575"/>
            <a:ext cx="4893958" cy="377825"/>
          </a:xfrm>
        </p:spPr>
        <p:txBody>
          <a:bodyPr/>
          <a:lstStyle/>
          <a:p>
            <a:endParaRPr lang="en-IN"/>
          </a:p>
        </p:txBody>
      </p:sp>
      <p:sp>
        <p:nvSpPr>
          <p:cNvPr id="6" name="Slide Number Placeholder 5"/>
          <p:cNvSpPr>
            <a:spLocks noGrp="1"/>
          </p:cNvSpPr>
          <p:nvPr>
            <p:ph type="sldNum" sz="quarter" idx="12"/>
          </p:nvPr>
        </p:nvSpPr>
        <p:spPr>
          <a:xfrm>
            <a:off x="10608958" y="5870575"/>
            <a:ext cx="551167" cy="377825"/>
          </a:xfrm>
        </p:spPr>
        <p:txBody>
          <a:bodyPr/>
          <a:lstStyle/>
          <a:p>
            <a:fld id="{C0356783-2EAC-43FE-A12F-8A1075E95CC0}" type="slidenum">
              <a:rPr lang="en-IN" smtClean="0"/>
              <a:t>‹#›</a:t>
            </a:fld>
            <a:endParaRPr lang="en-IN"/>
          </a:p>
        </p:txBody>
      </p:sp>
    </p:spTree>
    <p:extLst>
      <p:ext uri="{BB962C8B-B14F-4D97-AF65-F5344CB8AC3E}">
        <p14:creationId xmlns:p14="http://schemas.microsoft.com/office/powerpoint/2010/main" val="89105302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1A50D9-2383-4A99-A437-A612C9F8165B}" type="datetimeFigureOut">
              <a:rPr lang="en-IN" smtClean="0"/>
              <a:t>02-12-2024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356783-2EAC-43FE-A12F-8A1075E95CC0}" type="slidenum">
              <a:rPr lang="en-IN" smtClean="0"/>
              <a:t>‹#›</a:t>
            </a:fld>
            <a:endParaRPr lang="en-IN"/>
          </a:p>
        </p:txBody>
      </p:sp>
    </p:spTree>
    <p:extLst>
      <p:ext uri="{BB962C8B-B14F-4D97-AF65-F5344CB8AC3E}">
        <p14:creationId xmlns:p14="http://schemas.microsoft.com/office/powerpoint/2010/main" val="13063164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1A50D9-2383-4A99-A437-A612C9F8165B}" type="datetimeFigureOut">
              <a:rPr lang="en-IN" smtClean="0"/>
              <a:t>02-12-2024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356783-2EAC-43FE-A12F-8A1075E95CC0}" type="slidenum">
              <a:rPr lang="en-IN" smtClean="0"/>
              <a:t>‹#›</a:t>
            </a:fld>
            <a:endParaRPr lang="en-IN"/>
          </a:p>
        </p:txBody>
      </p:sp>
    </p:spTree>
    <p:extLst>
      <p:ext uri="{BB962C8B-B14F-4D97-AF65-F5344CB8AC3E}">
        <p14:creationId xmlns:p14="http://schemas.microsoft.com/office/powerpoint/2010/main" val="2398483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51A50D9-2383-4A99-A437-A612C9F8165B}" type="datetimeFigureOut">
              <a:rPr lang="en-IN" smtClean="0"/>
              <a:t>02-12-2024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0356783-2EAC-43FE-A12F-8A1075E95CC0}" type="slidenum">
              <a:rPr lang="en-IN" smtClean="0"/>
              <a:t>‹#›</a:t>
            </a:fld>
            <a:endParaRPr lang="en-IN"/>
          </a:p>
        </p:txBody>
      </p:sp>
    </p:spTree>
    <p:extLst>
      <p:ext uri="{BB962C8B-B14F-4D97-AF65-F5344CB8AC3E}">
        <p14:creationId xmlns:p14="http://schemas.microsoft.com/office/powerpoint/2010/main" val="1410354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51A50D9-2383-4A99-A437-A612C9F8165B}" type="datetimeFigureOut">
              <a:rPr lang="en-IN" smtClean="0"/>
              <a:t>02-12-2024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0356783-2EAC-43FE-A12F-8A1075E95CC0}" type="slidenum">
              <a:rPr lang="en-IN" smtClean="0"/>
              <a:t>‹#›</a:t>
            </a:fld>
            <a:endParaRPr lang="en-IN"/>
          </a:p>
        </p:txBody>
      </p:sp>
    </p:spTree>
    <p:extLst>
      <p:ext uri="{BB962C8B-B14F-4D97-AF65-F5344CB8AC3E}">
        <p14:creationId xmlns:p14="http://schemas.microsoft.com/office/powerpoint/2010/main" val="28399094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51A50D9-2383-4A99-A437-A612C9F8165B}" type="datetimeFigureOut">
              <a:rPr lang="en-IN" smtClean="0"/>
              <a:t>02-12-2024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0356783-2EAC-43FE-A12F-8A1075E95CC0}" type="slidenum">
              <a:rPr lang="en-IN" smtClean="0"/>
              <a:t>‹#›</a:t>
            </a:fld>
            <a:endParaRPr lang="en-IN"/>
          </a:p>
        </p:txBody>
      </p:sp>
    </p:spTree>
    <p:extLst>
      <p:ext uri="{BB962C8B-B14F-4D97-AF65-F5344CB8AC3E}">
        <p14:creationId xmlns:p14="http://schemas.microsoft.com/office/powerpoint/2010/main" val="40184546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851A50D9-2383-4A99-A437-A612C9F8165B}" type="datetimeFigureOut">
              <a:rPr lang="en-IN" smtClean="0"/>
              <a:t>02-12-2024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0356783-2EAC-43FE-A12F-8A1075E95CC0}" type="slidenum">
              <a:rPr lang="en-IN" smtClean="0"/>
              <a:t>‹#›</a:t>
            </a:fld>
            <a:endParaRPr lang="en-IN"/>
          </a:p>
        </p:txBody>
      </p:sp>
    </p:spTree>
    <p:extLst>
      <p:ext uri="{BB962C8B-B14F-4D97-AF65-F5344CB8AC3E}">
        <p14:creationId xmlns:p14="http://schemas.microsoft.com/office/powerpoint/2010/main" val="10656519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51A50D9-2383-4A99-A437-A612C9F8165B}" type="datetimeFigureOut">
              <a:rPr lang="en-IN" smtClean="0"/>
              <a:t>02-12-2024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0356783-2EAC-43FE-A12F-8A1075E95CC0}" type="slidenum">
              <a:rPr lang="en-IN" smtClean="0"/>
              <a:t>‹#›</a:t>
            </a:fld>
            <a:endParaRPr lang="en-IN"/>
          </a:p>
        </p:txBody>
      </p:sp>
    </p:spTree>
    <p:extLst>
      <p:ext uri="{BB962C8B-B14F-4D97-AF65-F5344CB8AC3E}">
        <p14:creationId xmlns:p14="http://schemas.microsoft.com/office/powerpoint/2010/main" val="670989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51A50D9-2383-4A99-A437-A612C9F8165B}" type="datetimeFigureOut">
              <a:rPr lang="en-IN" smtClean="0"/>
              <a:t>02-12-2024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0356783-2EAC-43FE-A12F-8A1075E95CC0}" type="slidenum">
              <a:rPr lang="en-IN" smtClean="0"/>
              <a:t>‹#›</a:t>
            </a:fld>
            <a:endParaRPr lang="en-IN"/>
          </a:p>
        </p:txBody>
      </p:sp>
    </p:spTree>
    <p:extLst>
      <p:ext uri="{BB962C8B-B14F-4D97-AF65-F5344CB8AC3E}">
        <p14:creationId xmlns:p14="http://schemas.microsoft.com/office/powerpoint/2010/main" val="42394576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51A50D9-2383-4A99-A437-A612C9F8165B}" type="datetimeFigureOut">
              <a:rPr lang="en-IN" smtClean="0"/>
              <a:t>02-12-2024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0356783-2EAC-43FE-A12F-8A1075E95CC0}" type="slidenum">
              <a:rPr lang="en-IN" smtClean="0"/>
              <a:t>‹#›</a:t>
            </a:fld>
            <a:endParaRPr lang="en-IN"/>
          </a:p>
        </p:txBody>
      </p:sp>
    </p:spTree>
    <p:extLst>
      <p:ext uri="{BB962C8B-B14F-4D97-AF65-F5344CB8AC3E}">
        <p14:creationId xmlns:p14="http://schemas.microsoft.com/office/powerpoint/2010/main" val="34508520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1A50D9-2383-4A99-A437-A612C9F8165B}" type="datetimeFigureOut">
              <a:rPr lang="en-IN" smtClean="0"/>
              <a:t>02-12-2024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356783-2EAC-43FE-A12F-8A1075E95CC0}" type="slidenum">
              <a:rPr lang="en-IN" smtClean="0"/>
              <a:t>‹#›</a:t>
            </a:fld>
            <a:endParaRPr lang="en-IN"/>
          </a:p>
        </p:txBody>
      </p:sp>
    </p:spTree>
    <p:extLst>
      <p:ext uri="{BB962C8B-B14F-4D97-AF65-F5344CB8AC3E}">
        <p14:creationId xmlns:p14="http://schemas.microsoft.com/office/powerpoint/2010/main" val="32316349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1A50D9-2383-4A99-A437-A612C9F8165B}" type="datetimeFigureOut">
              <a:rPr lang="en-IN" smtClean="0"/>
              <a:t>02-12-2024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356783-2EAC-43FE-A12F-8A1075E95CC0}" type="slidenum">
              <a:rPr lang="en-IN" smtClean="0"/>
              <a:t>‹#›</a:t>
            </a:fld>
            <a:endParaRPr lang="en-IN"/>
          </a:p>
        </p:txBody>
      </p:sp>
    </p:spTree>
    <p:extLst>
      <p:ext uri="{BB962C8B-B14F-4D97-AF65-F5344CB8AC3E}">
        <p14:creationId xmlns:p14="http://schemas.microsoft.com/office/powerpoint/2010/main" val="32182648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1A50D9-2383-4A99-A437-A612C9F8165B}" type="datetimeFigureOut">
              <a:rPr lang="en-IN" smtClean="0"/>
              <a:t>02-12-2024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356783-2EAC-43FE-A12F-8A1075E95CC0}" type="slidenum">
              <a:rPr lang="en-IN" smtClean="0"/>
              <a:t>‹#›</a:t>
            </a:fld>
            <a:endParaRPr lang="en-IN"/>
          </a:p>
        </p:txBody>
      </p:sp>
    </p:spTree>
    <p:extLst>
      <p:ext uri="{BB962C8B-B14F-4D97-AF65-F5344CB8AC3E}">
        <p14:creationId xmlns:p14="http://schemas.microsoft.com/office/powerpoint/2010/main" val="14507196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1A50D9-2383-4A99-A437-A612C9F8165B}" type="datetimeFigureOut">
              <a:rPr lang="en-IN" smtClean="0"/>
              <a:t>02-12-2024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356783-2EAC-43FE-A12F-8A1075E95CC0}" type="slidenum">
              <a:rPr lang="en-IN" smtClean="0"/>
              <a:t>‹#›</a:t>
            </a:fld>
            <a:endParaRPr lang="en-IN"/>
          </a:p>
        </p:txBody>
      </p:sp>
    </p:spTree>
    <p:extLst>
      <p:ext uri="{BB962C8B-B14F-4D97-AF65-F5344CB8AC3E}">
        <p14:creationId xmlns:p14="http://schemas.microsoft.com/office/powerpoint/2010/main" val="27105795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1A50D9-2383-4A99-A437-A612C9F8165B}" type="datetimeFigureOut">
              <a:rPr lang="en-IN" smtClean="0"/>
              <a:t>02-12-2024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356783-2EAC-43FE-A12F-8A1075E95CC0}" type="slidenum">
              <a:rPr lang="en-IN" smtClean="0"/>
              <a:t>‹#›</a:t>
            </a:fld>
            <a:endParaRPr lang="en-IN"/>
          </a:p>
        </p:txBody>
      </p:sp>
    </p:spTree>
    <p:extLst>
      <p:ext uri="{BB962C8B-B14F-4D97-AF65-F5344CB8AC3E}">
        <p14:creationId xmlns:p14="http://schemas.microsoft.com/office/powerpoint/2010/main" val="547641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1A50D9-2383-4A99-A437-A612C9F8165B}" type="datetimeFigureOut">
              <a:rPr lang="en-IN" smtClean="0"/>
              <a:t>02-12-2024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356783-2EAC-43FE-A12F-8A1075E95CC0}" type="slidenum">
              <a:rPr lang="en-IN" smtClean="0"/>
              <a:t>‹#›</a:t>
            </a:fld>
            <a:endParaRPr lang="en-IN"/>
          </a:p>
        </p:txBody>
      </p:sp>
    </p:spTree>
    <p:extLst>
      <p:ext uri="{BB962C8B-B14F-4D97-AF65-F5344CB8AC3E}">
        <p14:creationId xmlns:p14="http://schemas.microsoft.com/office/powerpoint/2010/main" val="39217227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1A50D9-2383-4A99-A437-A612C9F8165B}" type="datetimeFigureOut">
              <a:rPr lang="en-IN" smtClean="0"/>
              <a:t>02-12-2024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356783-2EAC-43FE-A12F-8A1075E95CC0}" type="slidenum">
              <a:rPr lang="en-IN" smtClean="0"/>
              <a:t>‹#›</a:t>
            </a:fld>
            <a:endParaRPr lang="en-IN"/>
          </a:p>
        </p:txBody>
      </p:sp>
    </p:spTree>
    <p:extLst>
      <p:ext uri="{BB962C8B-B14F-4D97-AF65-F5344CB8AC3E}">
        <p14:creationId xmlns:p14="http://schemas.microsoft.com/office/powerpoint/2010/main" val="1667054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51A50D9-2383-4A99-A437-A612C9F8165B}" type="datetimeFigureOut">
              <a:rPr lang="en-IN" smtClean="0"/>
              <a:t>02-12-2024</a:t>
            </a:fld>
            <a:endParaRPr lang="en-IN"/>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0356783-2EAC-43FE-A12F-8A1075E95CC0}" type="slidenum">
              <a:rPr lang="en-IN" smtClean="0"/>
              <a:t>‹#›</a:t>
            </a:fld>
            <a:endParaRPr lang="en-IN"/>
          </a:p>
        </p:txBody>
      </p:sp>
    </p:spTree>
    <p:extLst>
      <p:ext uri="{BB962C8B-B14F-4D97-AF65-F5344CB8AC3E}">
        <p14:creationId xmlns:p14="http://schemas.microsoft.com/office/powerpoint/2010/main" val="2012612487"/>
      </p:ext>
    </p:extLst>
  </p:cSld>
  <p:clrMap bg1="dk1" tx1="lt1" bg2="dk2" tx2="lt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 id="2147483852" r:id="rId12"/>
    <p:sldLayoutId id="2147483853" r:id="rId13"/>
    <p:sldLayoutId id="2147483854" r:id="rId14"/>
    <p:sldLayoutId id="2147483855" r:id="rId15"/>
    <p:sldLayoutId id="2147483856" r:id="rId16"/>
    <p:sldLayoutId id="214748385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7.xml"/><Relationship Id="rId5" Type="http://schemas.openxmlformats.org/officeDocument/2006/relationships/image" Target="../media/image4.png"/><Relationship Id="rId4" Type="http://schemas.microsoft.com/office/2014/relationships/chartEx" Target="../charts/chartEx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chart" Target="../charts/chart6.xml"/><Relationship Id="rId4" Type="http://schemas.openxmlformats.org/officeDocument/2006/relationships/chart" Target="../charts/char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s://docs.google.com/spreadsheets/d/1tqY_gckRim_Z_K8k71I7J0BuV1BE18XE/edit?usp=drive_link&amp;ouid=106569807761995912257&amp;rtpof=true&amp;sd=tru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34990-E8CD-7725-25E9-AABE5A95909F}"/>
              </a:ext>
            </a:extLst>
          </p:cNvPr>
          <p:cNvSpPr>
            <a:spLocks noGrp="1"/>
          </p:cNvSpPr>
          <p:nvPr>
            <p:ph type="ctrTitle"/>
          </p:nvPr>
        </p:nvSpPr>
        <p:spPr>
          <a:xfrm>
            <a:off x="688002" y="479597"/>
            <a:ext cx="10884566" cy="1992671"/>
          </a:xfrm>
        </p:spPr>
        <p:txBody>
          <a:bodyPr>
            <a:normAutofit fontScale="90000"/>
          </a:bodyPr>
          <a:lstStyle/>
          <a:p>
            <a:r>
              <a:rPr lang="en-US" dirty="0"/>
              <a:t>Enhancing Operational Efficiency and Driving Business Growth at JM Marketing</a:t>
            </a:r>
            <a:endParaRPr lang="en-IN" dirty="0"/>
          </a:p>
        </p:txBody>
      </p:sp>
      <p:sp>
        <p:nvSpPr>
          <p:cNvPr id="3" name="Subtitle 2">
            <a:extLst>
              <a:ext uri="{FF2B5EF4-FFF2-40B4-BE49-F238E27FC236}">
                <a16:creationId xmlns:a16="http://schemas.microsoft.com/office/drawing/2014/main" id="{B96EB09D-DC26-BC37-7AB0-BBEFA5061732}"/>
              </a:ext>
            </a:extLst>
          </p:cNvPr>
          <p:cNvSpPr>
            <a:spLocks noGrp="1"/>
          </p:cNvSpPr>
          <p:nvPr>
            <p:ph type="subTitle" idx="1"/>
          </p:nvPr>
        </p:nvSpPr>
        <p:spPr>
          <a:xfrm>
            <a:off x="3962399" y="4168878"/>
            <a:ext cx="7197726" cy="1622322"/>
          </a:xfrm>
        </p:spPr>
        <p:txBody>
          <a:bodyPr>
            <a:normAutofit/>
          </a:bodyPr>
          <a:lstStyle/>
          <a:p>
            <a:r>
              <a:rPr lang="en-US" sz="2400" dirty="0"/>
              <a:t>AVNISH JAJODIA</a:t>
            </a:r>
          </a:p>
          <a:p>
            <a:r>
              <a:rPr lang="en-US" sz="2400" dirty="0"/>
              <a:t>22F3001777</a:t>
            </a:r>
            <a:endParaRPr lang="en-IN" sz="2400" dirty="0"/>
          </a:p>
        </p:txBody>
      </p:sp>
    </p:spTree>
    <p:extLst>
      <p:ext uri="{BB962C8B-B14F-4D97-AF65-F5344CB8AC3E}">
        <p14:creationId xmlns:p14="http://schemas.microsoft.com/office/powerpoint/2010/main" val="34691830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A1FC2-FBD7-0984-D26F-6FD0C62F3BF4}"/>
              </a:ext>
            </a:extLst>
          </p:cNvPr>
          <p:cNvSpPr>
            <a:spLocks noGrp="1"/>
          </p:cNvSpPr>
          <p:nvPr>
            <p:ph type="title"/>
          </p:nvPr>
        </p:nvSpPr>
        <p:spPr>
          <a:xfrm>
            <a:off x="685802" y="609600"/>
            <a:ext cx="10011696" cy="1120877"/>
          </a:xfrm>
        </p:spPr>
        <p:txBody>
          <a:bodyPr/>
          <a:lstStyle/>
          <a:p>
            <a:r>
              <a:rPr lang="en-US" dirty="0"/>
              <a:t>Business background</a:t>
            </a:r>
            <a:endParaRPr lang="en-IN" dirty="0"/>
          </a:p>
        </p:txBody>
      </p:sp>
      <p:sp>
        <p:nvSpPr>
          <p:cNvPr id="3" name="Content Placeholder 2">
            <a:extLst>
              <a:ext uri="{FF2B5EF4-FFF2-40B4-BE49-F238E27FC236}">
                <a16:creationId xmlns:a16="http://schemas.microsoft.com/office/drawing/2014/main" id="{1C4614DD-7529-2F6C-AFA0-CAAF04560956}"/>
              </a:ext>
            </a:extLst>
          </p:cNvPr>
          <p:cNvSpPr>
            <a:spLocks noGrp="1"/>
          </p:cNvSpPr>
          <p:nvPr>
            <p:ph idx="1"/>
          </p:nvPr>
        </p:nvSpPr>
        <p:spPr>
          <a:xfrm>
            <a:off x="685802" y="1730477"/>
            <a:ext cx="10131425" cy="3649133"/>
          </a:xfrm>
        </p:spPr>
        <p:txBody>
          <a:bodyPr>
            <a:normAutofit/>
          </a:bodyPr>
          <a:lstStyle/>
          <a:p>
            <a:pPr marL="0" indent="0" algn="just">
              <a:buNone/>
            </a:pPr>
            <a:r>
              <a:rPr lang="en-US" sz="2000" dirty="0"/>
              <a:t>JM Marketing, established in the year 2000 by Ratan and Bharat Agarwal in Kolkata, is a trusted name in the aluminum sector. The company offers a diverse product portfolio, including aluminum panel sheets, sections, customized windows, doors, and laminates. Primarily serving the B2B sector with occasional B2C engagements, JM Marketing employs a skilled workforce of 20+ individuals. Over two decades, the company has built lasting partnerships with 50+ businesses, successfully delivered to 600+ locations, and catered to 500+ buyers. Committed to excellence, JM Marketing ensures premium quality by adhering to industry standards in manufacturing and transportation.</a:t>
            </a:r>
            <a:endParaRPr lang="en-IN" sz="2000" dirty="0"/>
          </a:p>
        </p:txBody>
      </p:sp>
    </p:spTree>
    <p:extLst>
      <p:ext uri="{BB962C8B-B14F-4D97-AF65-F5344CB8AC3E}">
        <p14:creationId xmlns:p14="http://schemas.microsoft.com/office/powerpoint/2010/main" val="39157804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6696E-3D86-3A55-14A8-3BC2DE3E0C06}"/>
              </a:ext>
            </a:extLst>
          </p:cNvPr>
          <p:cNvSpPr>
            <a:spLocks noGrp="1"/>
          </p:cNvSpPr>
          <p:nvPr>
            <p:ph type="title"/>
          </p:nvPr>
        </p:nvSpPr>
        <p:spPr>
          <a:xfrm>
            <a:off x="561110" y="154038"/>
            <a:ext cx="10131425" cy="1456267"/>
          </a:xfrm>
        </p:spPr>
        <p:txBody>
          <a:bodyPr/>
          <a:lstStyle/>
          <a:p>
            <a:r>
              <a:rPr lang="en-US" dirty="0"/>
              <a:t>Challenges</a:t>
            </a:r>
            <a:endParaRPr lang="en-IN" dirty="0"/>
          </a:p>
        </p:txBody>
      </p:sp>
      <p:sp>
        <p:nvSpPr>
          <p:cNvPr id="16" name="Content Placeholder 15">
            <a:extLst>
              <a:ext uri="{FF2B5EF4-FFF2-40B4-BE49-F238E27FC236}">
                <a16:creationId xmlns:a16="http://schemas.microsoft.com/office/drawing/2014/main" id="{4497876F-E231-C303-AB45-4C95F65DCAB5}"/>
              </a:ext>
            </a:extLst>
          </p:cNvPr>
          <p:cNvSpPr>
            <a:spLocks noGrp="1"/>
          </p:cNvSpPr>
          <p:nvPr>
            <p:ph idx="1"/>
          </p:nvPr>
        </p:nvSpPr>
        <p:spPr>
          <a:xfrm flipV="1">
            <a:off x="2625076" y="5791199"/>
            <a:ext cx="7651534" cy="162791"/>
          </a:xfrm>
        </p:spPr>
        <p:txBody>
          <a:bodyPr>
            <a:normAutofit fontScale="25000" lnSpcReduction="20000"/>
          </a:bodyPr>
          <a:lstStyle/>
          <a:p>
            <a:endParaRPr lang="en-IN" dirty="0"/>
          </a:p>
        </p:txBody>
      </p:sp>
      <p:grpSp>
        <p:nvGrpSpPr>
          <p:cNvPr id="4" name="Group 3">
            <a:extLst>
              <a:ext uri="{FF2B5EF4-FFF2-40B4-BE49-F238E27FC236}">
                <a16:creationId xmlns:a16="http://schemas.microsoft.com/office/drawing/2014/main" id="{0C80E6D1-D0AF-687D-5203-AC4DB7E3F962}"/>
              </a:ext>
            </a:extLst>
          </p:cNvPr>
          <p:cNvGrpSpPr/>
          <p:nvPr/>
        </p:nvGrpSpPr>
        <p:grpSpPr>
          <a:xfrm>
            <a:off x="1839824" y="1321969"/>
            <a:ext cx="7623756" cy="2996045"/>
            <a:chOff x="-470049" y="-57150"/>
            <a:chExt cx="2206102" cy="869950"/>
          </a:xfrm>
        </p:grpSpPr>
        <p:sp>
          <p:nvSpPr>
            <p:cNvPr id="5" name="Freeform 4">
              <a:extLst>
                <a:ext uri="{FF2B5EF4-FFF2-40B4-BE49-F238E27FC236}">
                  <a16:creationId xmlns:a16="http://schemas.microsoft.com/office/drawing/2014/main" id="{09CE7C1F-862C-84C1-2390-DBCF8201D707}"/>
                </a:ext>
              </a:extLst>
            </p:cNvPr>
            <p:cNvSpPr/>
            <p:nvPr/>
          </p:nvSpPr>
          <p:spPr>
            <a:xfrm>
              <a:off x="-470049" y="-16306"/>
              <a:ext cx="1436595" cy="637537"/>
            </a:xfrm>
            <a:custGeom>
              <a:avLst/>
              <a:gdLst/>
              <a:ahLst/>
              <a:cxnLst/>
              <a:rect l="l" t="t" r="r" b="b"/>
              <a:pathLst>
                <a:path w="1736053" h="812800">
                  <a:moveTo>
                    <a:pt x="58726" y="0"/>
                  </a:moveTo>
                  <a:lnTo>
                    <a:pt x="1677327" y="0"/>
                  </a:lnTo>
                  <a:cubicBezTo>
                    <a:pt x="1692902" y="0"/>
                    <a:pt x="1707840" y="6187"/>
                    <a:pt x="1718853" y="17200"/>
                  </a:cubicBezTo>
                  <a:cubicBezTo>
                    <a:pt x="1729866" y="28214"/>
                    <a:pt x="1736053" y="43151"/>
                    <a:pt x="1736053" y="58726"/>
                  </a:cubicBezTo>
                  <a:lnTo>
                    <a:pt x="1736053" y="754074"/>
                  </a:lnTo>
                  <a:cubicBezTo>
                    <a:pt x="1736053" y="786508"/>
                    <a:pt x="1709761" y="812800"/>
                    <a:pt x="1677327" y="812800"/>
                  </a:cubicBezTo>
                  <a:lnTo>
                    <a:pt x="58726" y="812800"/>
                  </a:lnTo>
                  <a:cubicBezTo>
                    <a:pt x="43151" y="812800"/>
                    <a:pt x="28214" y="806613"/>
                    <a:pt x="17200" y="795600"/>
                  </a:cubicBezTo>
                  <a:cubicBezTo>
                    <a:pt x="6187" y="784586"/>
                    <a:pt x="0" y="769649"/>
                    <a:pt x="0" y="754074"/>
                  </a:cubicBezTo>
                  <a:lnTo>
                    <a:pt x="0" y="58726"/>
                  </a:lnTo>
                  <a:cubicBezTo>
                    <a:pt x="0" y="43151"/>
                    <a:pt x="6187" y="28214"/>
                    <a:pt x="17200" y="17200"/>
                  </a:cubicBezTo>
                  <a:cubicBezTo>
                    <a:pt x="28214" y="6187"/>
                    <a:pt x="43151" y="0"/>
                    <a:pt x="58726" y="0"/>
                  </a:cubicBezTo>
                  <a:close/>
                </a:path>
              </a:pathLst>
            </a:custGeom>
            <a:solidFill>
              <a:srgbClr val="8AB7E2"/>
            </a:solidFill>
          </p:spPr>
        </p:sp>
        <p:sp>
          <p:nvSpPr>
            <p:cNvPr id="6" name="TextBox 5">
              <a:extLst>
                <a:ext uri="{FF2B5EF4-FFF2-40B4-BE49-F238E27FC236}">
                  <a16:creationId xmlns:a16="http://schemas.microsoft.com/office/drawing/2014/main" id="{A3C5F11D-C697-5C39-84ED-EF495E406B2F}"/>
                </a:ext>
              </a:extLst>
            </p:cNvPr>
            <p:cNvSpPr txBox="1"/>
            <p:nvPr/>
          </p:nvSpPr>
          <p:spPr>
            <a:xfrm>
              <a:off x="0" y="-57150"/>
              <a:ext cx="1736053" cy="869950"/>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6">
            <a:extLst>
              <a:ext uri="{FF2B5EF4-FFF2-40B4-BE49-F238E27FC236}">
                <a16:creationId xmlns:a16="http://schemas.microsoft.com/office/drawing/2014/main" id="{4E840B26-3230-0D67-34A5-89D50452689D}"/>
              </a:ext>
            </a:extLst>
          </p:cNvPr>
          <p:cNvSpPr txBox="1"/>
          <p:nvPr/>
        </p:nvSpPr>
        <p:spPr>
          <a:xfrm>
            <a:off x="2170962" y="1801664"/>
            <a:ext cx="4603173" cy="1569660"/>
          </a:xfrm>
          <a:prstGeom prst="rect">
            <a:avLst/>
          </a:prstGeom>
          <a:noFill/>
        </p:spPr>
        <p:txBody>
          <a:bodyPr wrap="square" rtlCol="0">
            <a:spAutoFit/>
          </a:bodyPr>
          <a:lstStyle/>
          <a:p>
            <a:pPr algn="just"/>
            <a:r>
              <a:rPr lang="en-US" sz="2400" dirty="0"/>
              <a:t>JM Marketing is experiencing significant order delays, leading to customer dissatisfaction and order cancellations. </a:t>
            </a:r>
            <a:endParaRPr lang="en-IN" sz="2200" dirty="0"/>
          </a:p>
        </p:txBody>
      </p:sp>
      <p:grpSp>
        <p:nvGrpSpPr>
          <p:cNvPr id="9" name="Group 15">
            <a:extLst>
              <a:ext uri="{FF2B5EF4-FFF2-40B4-BE49-F238E27FC236}">
                <a16:creationId xmlns:a16="http://schemas.microsoft.com/office/drawing/2014/main" id="{8BC194AF-53E3-1868-D549-7059D8D209A5}"/>
              </a:ext>
            </a:extLst>
          </p:cNvPr>
          <p:cNvGrpSpPr/>
          <p:nvPr/>
        </p:nvGrpSpPr>
        <p:grpSpPr>
          <a:xfrm>
            <a:off x="627912" y="1673564"/>
            <a:ext cx="1543050" cy="1543050"/>
            <a:chOff x="22228" y="-36172"/>
            <a:chExt cx="812800" cy="812800"/>
          </a:xfrm>
        </p:grpSpPr>
        <p:sp>
          <p:nvSpPr>
            <p:cNvPr id="10" name="Freeform 16">
              <a:extLst>
                <a:ext uri="{FF2B5EF4-FFF2-40B4-BE49-F238E27FC236}">
                  <a16:creationId xmlns:a16="http://schemas.microsoft.com/office/drawing/2014/main" id="{89824E7F-E72F-2AB0-36CC-C2AC56339AAC}"/>
                </a:ext>
              </a:extLst>
            </p:cNvPr>
            <p:cNvSpPr/>
            <p:nvPr/>
          </p:nvSpPr>
          <p:spPr>
            <a:xfrm>
              <a:off x="22228" y="-36172"/>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6D73"/>
            </a:solidFill>
          </p:spPr>
          <p:txBody>
            <a:bodyPr/>
            <a:lstStyle/>
            <a:p>
              <a:endParaRPr lang="en-IN" dirty="0"/>
            </a:p>
          </p:txBody>
        </p:sp>
        <p:sp>
          <p:nvSpPr>
            <p:cNvPr id="11" name="TextBox 17">
              <a:extLst>
                <a:ext uri="{FF2B5EF4-FFF2-40B4-BE49-F238E27FC236}">
                  <a16:creationId xmlns:a16="http://schemas.microsoft.com/office/drawing/2014/main" id="{3445ACA1-F90D-90ED-A651-E72FBA075F69}"/>
                </a:ext>
              </a:extLst>
            </p:cNvPr>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grpSp>
        <p:nvGrpSpPr>
          <p:cNvPr id="20" name="Group 19">
            <a:extLst>
              <a:ext uri="{FF2B5EF4-FFF2-40B4-BE49-F238E27FC236}">
                <a16:creationId xmlns:a16="http://schemas.microsoft.com/office/drawing/2014/main" id="{A91E5F2E-F6EA-3383-D17B-A4A46C3725E1}"/>
              </a:ext>
            </a:extLst>
          </p:cNvPr>
          <p:cNvGrpSpPr/>
          <p:nvPr/>
        </p:nvGrpSpPr>
        <p:grpSpPr>
          <a:xfrm>
            <a:off x="6338456" y="3861955"/>
            <a:ext cx="8117428" cy="2842007"/>
            <a:chOff x="-470049" y="-57150"/>
            <a:chExt cx="2206102" cy="869950"/>
          </a:xfrm>
        </p:grpSpPr>
        <p:sp>
          <p:nvSpPr>
            <p:cNvPr id="21" name="Freeform 4">
              <a:extLst>
                <a:ext uri="{FF2B5EF4-FFF2-40B4-BE49-F238E27FC236}">
                  <a16:creationId xmlns:a16="http://schemas.microsoft.com/office/drawing/2014/main" id="{3BC1231C-C41F-0434-2B93-2A12A2CA7739}"/>
                </a:ext>
              </a:extLst>
            </p:cNvPr>
            <p:cNvSpPr/>
            <p:nvPr/>
          </p:nvSpPr>
          <p:spPr>
            <a:xfrm>
              <a:off x="-470049" y="-16306"/>
              <a:ext cx="1436595" cy="637537"/>
            </a:xfrm>
            <a:custGeom>
              <a:avLst/>
              <a:gdLst/>
              <a:ahLst/>
              <a:cxnLst/>
              <a:rect l="l" t="t" r="r" b="b"/>
              <a:pathLst>
                <a:path w="1736053" h="812800">
                  <a:moveTo>
                    <a:pt x="58726" y="0"/>
                  </a:moveTo>
                  <a:lnTo>
                    <a:pt x="1677327" y="0"/>
                  </a:lnTo>
                  <a:cubicBezTo>
                    <a:pt x="1692902" y="0"/>
                    <a:pt x="1707840" y="6187"/>
                    <a:pt x="1718853" y="17200"/>
                  </a:cubicBezTo>
                  <a:cubicBezTo>
                    <a:pt x="1729866" y="28214"/>
                    <a:pt x="1736053" y="43151"/>
                    <a:pt x="1736053" y="58726"/>
                  </a:cubicBezTo>
                  <a:lnTo>
                    <a:pt x="1736053" y="754074"/>
                  </a:lnTo>
                  <a:cubicBezTo>
                    <a:pt x="1736053" y="786508"/>
                    <a:pt x="1709761" y="812800"/>
                    <a:pt x="1677327" y="812800"/>
                  </a:cubicBezTo>
                  <a:lnTo>
                    <a:pt x="58726" y="812800"/>
                  </a:lnTo>
                  <a:cubicBezTo>
                    <a:pt x="43151" y="812800"/>
                    <a:pt x="28214" y="806613"/>
                    <a:pt x="17200" y="795600"/>
                  </a:cubicBezTo>
                  <a:cubicBezTo>
                    <a:pt x="6187" y="784586"/>
                    <a:pt x="0" y="769649"/>
                    <a:pt x="0" y="754074"/>
                  </a:cubicBezTo>
                  <a:lnTo>
                    <a:pt x="0" y="58726"/>
                  </a:lnTo>
                  <a:cubicBezTo>
                    <a:pt x="0" y="43151"/>
                    <a:pt x="6187" y="28214"/>
                    <a:pt x="17200" y="17200"/>
                  </a:cubicBezTo>
                  <a:cubicBezTo>
                    <a:pt x="28214" y="6187"/>
                    <a:pt x="43151" y="0"/>
                    <a:pt x="58726" y="0"/>
                  </a:cubicBezTo>
                  <a:close/>
                </a:path>
              </a:pathLst>
            </a:custGeom>
            <a:solidFill>
              <a:srgbClr val="8AB7E2"/>
            </a:solidFill>
          </p:spPr>
        </p:sp>
        <p:sp>
          <p:nvSpPr>
            <p:cNvPr id="22" name="TextBox 21">
              <a:extLst>
                <a:ext uri="{FF2B5EF4-FFF2-40B4-BE49-F238E27FC236}">
                  <a16:creationId xmlns:a16="http://schemas.microsoft.com/office/drawing/2014/main" id="{80C47A86-9FEE-942F-F517-BD1A35F5CBBB}"/>
                </a:ext>
              </a:extLst>
            </p:cNvPr>
            <p:cNvSpPr txBox="1"/>
            <p:nvPr/>
          </p:nvSpPr>
          <p:spPr>
            <a:xfrm>
              <a:off x="0" y="-57150"/>
              <a:ext cx="1736053" cy="869950"/>
            </a:xfrm>
            <a:prstGeom prst="rect">
              <a:avLst/>
            </a:prstGeom>
          </p:spPr>
          <p:txBody>
            <a:bodyPr lIns="50800" tIns="50800" rIns="50800" bIns="50800" rtlCol="0" anchor="ctr"/>
            <a:lstStyle/>
            <a:p>
              <a:pPr algn="ctr">
                <a:lnSpc>
                  <a:spcPts val="2659"/>
                </a:lnSpc>
                <a:spcBef>
                  <a:spcPct val="0"/>
                </a:spcBef>
              </a:pPr>
              <a:endParaRPr/>
            </a:p>
          </p:txBody>
        </p:sp>
      </p:grpSp>
      <p:grpSp>
        <p:nvGrpSpPr>
          <p:cNvPr id="23" name="Group 15">
            <a:extLst>
              <a:ext uri="{FF2B5EF4-FFF2-40B4-BE49-F238E27FC236}">
                <a16:creationId xmlns:a16="http://schemas.microsoft.com/office/drawing/2014/main" id="{28A1F961-C4A0-1E1B-8E89-8E934CAD2E8F}"/>
              </a:ext>
            </a:extLst>
          </p:cNvPr>
          <p:cNvGrpSpPr/>
          <p:nvPr/>
        </p:nvGrpSpPr>
        <p:grpSpPr>
          <a:xfrm>
            <a:off x="5287067" y="4265235"/>
            <a:ext cx="1543050" cy="1543050"/>
            <a:chOff x="22228" y="-36172"/>
            <a:chExt cx="812800" cy="812800"/>
          </a:xfrm>
        </p:grpSpPr>
        <p:sp>
          <p:nvSpPr>
            <p:cNvPr id="24" name="Freeform 16">
              <a:extLst>
                <a:ext uri="{FF2B5EF4-FFF2-40B4-BE49-F238E27FC236}">
                  <a16:creationId xmlns:a16="http://schemas.microsoft.com/office/drawing/2014/main" id="{462D23E1-897E-00AC-E55B-08DB341E18F9}"/>
                </a:ext>
              </a:extLst>
            </p:cNvPr>
            <p:cNvSpPr/>
            <p:nvPr/>
          </p:nvSpPr>
          <p:spPr>
            <a:xfrm>
              <a:off x="22228" y="-36172"/>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6D73"/>
            </a:solidFill>
          </p:spPr>
          <p:txBody>
            <a:bodyPr/>
            <a:lstStyle/>
            <a:p>
              <a:endParaRPr lang="en-IN" dirty="0"/>
            </a:p>
          </p:txBody>
        </p:sp>
        <p:sp>
          <p:nvSpPr>
            <p:cNvPr id="25" name="TextBox 17">
              <a:extLst>
                <a:ext uri="{FF2B5EF4-FFF2-40B4-BE49-F238E27FC236}">
                  <a16:creationId xmlns:a16="http://schemas.microsoft.com/office/drawing/2014/main" id="{AD0B101F-6F23-2CD0-267C-82495CBDCC88}"/>
                </a:ext>
              </a:extLst>
            </p:cNvPr>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sp>
        <p:nvSpPr>
          <p:cNvPr id="26" name="TextBox 25">
            <a:extLst>
              <a:ext uri="{FF2B5EF4-FFF2-40B4-BE49-F238E27FC236}">
                <a16:creationId xmlns:a16="http://schemas.microsoft.com/office/drawing/2014/main" id="{15042C17-FB7D-64C2-F000-F38EB754DC77}"/>
              </a:ext>
            </a:extLst>
          </p:cNvPr>
          <p:cNvSpPr txBox="1"/>
          <p:nvPr/>
        </p:nvSpPr>
        <p:spPr>
          <a:xfrm>
            <a:off x="6923372" y="4099534"/>
            <a:ext cx="4682011" cy="1938992"/>
          </a:xfrm>
          <a:prstGeom prst="rect">
            <a:avLst/>
          </a:prstGeom>
          <a:noFill/>
        </p:spPr>
        <p:txBody>
          <a:bodyPr wrap="square" rtlCol="0">
            <a:spAutoFit/>
          </a:bodyPr>
          <a:lstStyle/>
          <a:p>
            <a:pPr algn="just"/>
            <a:r>
              <a:rPr lang="en-US" sz="2400" dirty="0"/>
              <a:t>JM Marketing faces working capital blockage from unsold inventories, raising holding costs, while stagnant sales growth hampers business expansion.</a:t>
            </a:r>
            <a:endParaRPr lang="en-IN" sz="2200" dirty="0"/>
          </a:p>
        </p:txBody>
      </p:sp>
    </p:spTree>
    <p:extLst>
      <p:ext uri="{BB962C8B-B14F-4D97-AF65-F5344CB8AC3E}">
        <p14:creationId xmlns:p14="http://schemas.microsoft.com/office/powerpoint/2010/main" val="3519523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A7F42B-386E-EBD7-F4F5-527EFE2FC06D}"/>
              </a:ext>
            </a:extLst>
          </p:cNvPr>
          <p:cNvSpPr txBox="1"/>
          <p:nvPr/>
        </p:nvSpPr>
        <p:spPr>
          <a:xfrm>
            <a:off x="487841" y="92594"/>
            <a:ext cx="8645237" cy="654628"/>
          </a:xfrm>
          <a:prstGeom prst="rect">
            <a:avLst/>
          </a:prstGeom>
          <a:noFill/>
        </p:spPr>
        <p:txBody>
          <a:bodyPr wrap="square" rtlCol="0">
            <a:spAutoFit/>
          </a:bodyPr>
          <a:lstStyle/>
          <a:p>
            <a:r>
              <a:rPr lang="en-US" sz="3600" dirty="0"/>
              <a:t>DATA OVERVIEW</a:t>
            </a:r>
            <a:endParaRPr lang="en-IN" sz="3600" dirty="0"/>
          </a:p>
        </p:txBody>
      </p:sp>
      <p:sp>
        <p:nvSpPr>
          <p:cNvPr id="3" name="TextBox 2">
            <a:extLst>
              <a:ext uri="{FF2B5EF4-FFF2-40B4-BE49-F238E27FC236}">
                <a16:creationId xmlns:a16="http://schemas.microsoft.com/office/drawing/2014/main" id="{109143FD-7655-979E-5B6B-48391381C915}"/>
              </a:ext>
            </a:extLst>
          </p:cNvPr>
          <p:cNvSpPr txBox="1"/>
          <p:nvPr/>
        </p:nvSpPr>
        <p:spPr>
          <a:xfrm>
            <a:off x="674665" y="835759"/>
            <a:ext cx="10411691" cy="923330"/>
          </a:xfrm>
          <a:prstGeom prst="rect">
            <a:avLst/>
          </a:prstGeom>
          <a:noFill/>
        </p:spPr>
        <p:txBody>
          <a:bodyPr wrap="square" rtlCol="0">
            <a:spAutoFit/>
          </a:bodyPr>
          <a:lstStyle/>
          <a:p>
            <a:pPr algn="just"/>
            <a:r>
              <a:rPr lang="en-US" dirty="0"/>
              <a:t>The data was gathered from the organization in an Excel file containing two sheets: </a:t>
            </a:r>
            <a:r>
              <a:rPr lang="en-US" b="1" dirty="0"/>
              <a:t>Warehouse</a:t>
            </a:r>
            <a:r>
              <a:rPr lang="en-US" dirty="0"/>
              <a:t> and </a:t>
            </a:r>
            <a:r>
              <a:rPr lang="en-US" b="1" dirty="0"/>
              <a:t>Sales</a:t>
            </a:r>
            <a:r>
              <a:rPr lang="en-US" dirty="0"/>
              <a:t>. The </a:t>
            </a:r>
            <a:r>
              <a:rPr lang="en-US" b="1" dirty="0"/>
              <a:t>Warehouse</a:t>
            </a:r>
            <a:r>
              <a:rPr lang="en-US" dirty="0"/>
              <a:t> data spans from July 2022 to July 2024, while the </a:t>
            </a:r>
            <a:r>
              <a:rPr lang="en-US" b="1" dirty="0"/>
              <a:t>Sales</a:t>
            </a:r>
            <a:r>
              <a:rPr lang="en-US" dirty="0"/>
              <a:t> data covers the period from August 2023 to July 2024. </a:t>
            </a:r>
          </a:p>
        </p:txBody>
      </p:sp>
      <p:grpSp>
        <p:nvGrpSpPr>
          <p:cNvPr id="6" name="Group 5">
            <a:extLst>
              <a:ext uri="{FF2B5EF4-FFF2-40B4-BE49-F238E27FC236}">
                <a16:creationId xmlns:a16="http://schemas.microsoft.com/office/drawing/2014/main" id="{49A7734F-767E-A804-7A21-3D718EACD803}"/>
              </a:ext>
            </a:extLst>
          </p:cNvPr>
          <p:cNvGrpSpPr/>
          <p:nvPr/>
        </p:nvGrpSpPr>
        <p:grpSpPr>
          <a:xfrm>
            <a:off x="915985" y="1772106"/>
            <a:ext cx="7623756" cy="5563876"/>
            <a:chOff x="-470049" y="-57150"/>
            <a:chExt cx="2206102" cy="869950"/>
          </a:xfrm>
        </p:grpSpPr>
        <p:sp>
          <p:nvSpPr>
            <p:cNvPr id="7" name="Freeform 4">
              <a:extLst>
                <a:ext uri="{FF2B5EF4-FFF2-40B4-BE49-F238E27FC236}">
                  <a16:creationId xmlns:a16="http://schemas.microsoft.com/office/drawing/2014/main" id="{2F1F5C25-D67B-B785-317D-0B23BF97F835}"/>
                </a:ext>
              </a:extLst>
            </p:cNvPr>
            <p:cNvSpPr/>
            <p:nvPr/>
          </p:nvSpPr>
          <p:spPr>
            <a:xfrm>
              <a:off x="-470049" y="-16306"/>
              <a:ext cx="1436595" cy="637537"/>
            </a:xfrm>
            <a:custGeom>
              <a:avLst/>
              <a:gdLst/>
              <a:ahLst/>
              <a:cxnLst/>
              <a:rect l="l" t="t" r="r" b="b"/>
              <a:pathLst>
                <a:path w="1736053" h="812800">
                  <a:moveTo>
                    <a:pt x="58726" y="0"/>
                  </a:moveTo>
                  <a:lnTo>
                    <a:pt x="1677327" y="0"/>
                  </a:lnTo>
                  <a:cubicBezTo>
                    <a:pt x="1692902" y="0"/>
                    <a:pt x="1707840" y="6187"/>
                    <a:pt x="1718853" y="17200"/>
                  </a:cubicBezTo>
                  <a:cubicBezTo>
                    <a:pt x="1729866" y="28214"/>
                    <a:pt x="1736053" y="43151"/>
                    <a:pt x="1736053" y="58726"/>
                  </a:cubicBezTo>
                  <a:lnTo>
                    <a:pt x="1736053" y="754074"/>
                  </a:lnTo>
                  <a:cubicBezTo>
                    <a:pt x="1736053" y="786508"/>
                    <a:pt x="1709761" y="812800"/>
                    <a:pt x="1677327" y="812800"/>
                  </a:cubicBezTo>
                  <a:lnTo>
                    <a:pt x="58726" y="812800"/>
                  </a:lnTo>
                  <a:cubicBezTo>
                    <a:pt x="43151" y="812800"/>
                    <a:pt x="28214" y="806613"/>
                    <a:pt x="17200" y="795600"/>
                  </a:cubicBezTo>
                  <a:cubicBezTo>
                    <a:pt x="6187" y="784586"/>
                    <a:pt x="0" y="769649"/>
                    <a:pt x="0" y="754074"/>
                  </a:cubicBezTo>
                  <a:lnTo>
                    <a:pt x="0" y="58726"/>
                  </a:lnTo>
                  <a:cubicBezTo>
                    <a:pt x="0" y="43151"/>
                    <a:pt x="6187" y="28214"/>
                    <a:pt x="17200" y="17200"/>
                  </a:cubicBezTo>
                  <a:cubicBezTo>
                    <a:pt x="28214" y="6187"/>
                    <a:pt x="43151" y="0"/>
                    <a:pt x="58726" y="0"/>
                  </a:cubicBezTo>
                  <a:close/>
                </a:path>
              </a:pathLst>
            </a:custGeom>
            <a:solidFill>
              <a:srgbClr val="8AB7E2"/>
            </a:solidFill>
          </p:spPr>
        </p:sp>
        <p:sp>
          <p:nvSpPr>
            <p:cNvPr id="8" name="TextBox 7">
              <a:extLst>
                <a:ext uri="{FF2B5EF4-FFF2-40B4-BE49-F238E27FC236}">
                  <a16:creationId xmlns:a16="http://schemas.microsoft.com/office/drawing/2014/main" id="{3A291321-CF86-9F8A-A537-2353B309E126}"/>
                </a:ext>
              </a:extLst>
            </p:cNvPr>
            <p:cNvSpPr txBox="1"/>
            <p:nvPr/>
          </p:nvSpPr>
          <p:spPr>
            <a:xfrm>
              <a:off x="0" y="-57150"/>
              <a:ext cx="1736053" cy="86995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8">
            <a:extLst>
              <a:ext uri="{FF2B5EF4-FFF2-40B4-BE49-F238E27FC236}">
                <a16:creationId xmlns:a16="http://schemas.microsoft.com/office/drawing/2014/main" id="{E4544296-16F1-16F5-2CA7-E71177D00350}"/>
              </a:ext>
            </a:extLst>
          </p:cNvPr>
          <p:cNvGrpSpPr/>
          <p:nvPr/>
        </p:nvGrpSpPr>
        <p:grpSpPr>
          <a:xfrm>
            <a:off x="6650815" y="1772106"/>
            <a:ext cx="7623756" cy="5563876"/>
            <a:chOff x="-470049" y="-57150"/>
            <a:chExt cx="2206102" cy="869950"/>
          </a:xfrm>
        </p:grpSpPr>
        <p:sp>
          <p:nvSpPr>
            <p:cNvPr id="10" name="Freeform 4">
              <a:extLst>
                <a:ext uri="{FF2B5EF4-FFF2-40B4-BE49-F238E27FC236}">
                  <a16:creationId xmlns:a16="http://schemas.microsoft.com/office/drawing/2014/main" id="{A3B9FBE0-B6A2-8A94-0956-C346D9444B54}"/>
                </a:ext>
              </a:extLst>
            </p:cNvPr>
            <p:cNvSpPr/>
            <p:nvPr/>
          </p:nvSpPr>
          <p:spPr>
            <a:xfrm>
              <a:off x="-470049" y="-16306"/>
              <a:ext cx="1436595" cy="637537"/>
            </a:xfrm>
            <a:custGeom>
              <a:avLst/>
              <a:gdLst/>
              <a:ahLst/>
              <a:cxnLst/>
              <a:rect l="l" t="t" r="r" b="b"/>
              <a:pathLst>
                <a:path w="1736053" h="812800">
                  <a:moveTo>
                    <a:pt x="58726" y="0"/>
                  </a:moveTo>
                  <a:lnTo>
                    <a:pt x="1677327" y="0"/>
                  </a:lnTo>
                  <a:cubicBezTo>
                    <a:pt x="1692902" y="0"/>
                    <a:pt x="1707840" y="6187"/>
                    <a:pt x="1718853" y="17200"/>
                  </a:cubicBezTo>
                  <a:cubicBezTo>
                    <a:pt x="1729866" y="28214"/>
                    <a:pt x="1736053" y="43151"/>
                    <a:pt x="1736053" y="58726"/>
                  </a:cubicBezTo>
                  <a:lnTo>
                    <a:pt x="1736053" y="754074"/>
                  </a:lnTo>
                  <a:cubicBezTo>
                    <a:pt x="1736053" y="786508"/>
                    <a:pt x="1709761" y="812800"/>
                    <a:pt x="1677327" y="812800"/>
                  </a:cubicBezTo>
                  <a:lnTo>
                    <a:pt x="58726" y="812800"/>
                  </a:lnTo>
                  <a:cubicBezTo>
                    <a:pt x="43151" y="812800"/>
                    <a:pt x="28214" y="806613"/>
                    <a:pt x="17200" y="795600"/>
                  </a:cubicBezTo>
                  <a:cubicBezTo>
                    <a:pt x="6187" y="784586"/>
                    <a:pt x="0" y="769649"/>
                    <a:pt x="0" y="754074"/>
                  </a:cubicBezTo>
                  <a:lnTo>
                    <a:pt x="0" y="58726"/>
                  </a:lnTo>
                  <a:cubicBezTo>
                    <a:pt x="0" y="43151"/>
                    <a:pt x="6187" y="28214"/>
                    <a:pt x="17200" y="17200"/>
                  </a:cubicBezTo>
                  <a:cubicBezTo>
                    <a:pt x="28214" y="6187"/>
                    <a:pt x="43151" y="0"/>
                    <a:pt x="58726" y="0"/>
                  </a:cubicBezTo>
                  <a:close/>
                </a:path>
              </a:pathLst>
            </a:custGeom>
            <a:solidFill>
              <a:srgbClr val="8AB7E2"/>
            </a:solidFill>
          </p:spPr>
        </p:sp>
        <p:sp>
          <p:nvSpPr>
            <p:cNvPr id="11" name="TextBox 10">
              <a:extLst>
                <a:ext uri="{FF2B5EF4-FFF2-40B4-BE49-F238E27FC236}">
                  <a16:creationId xmlns:a16="http://schemas.microsoft.com/office/drawing/2014/main" id="{1F5A4789-AC7B-4E84-124C-B32B3440CCC7}"/>
                </a:ext>
              </a:extLst>
            </p:cNvPr>
            <p:cNvSpPr txBox="1"/>
            <p:nvPr/>
          </p:nvSpPr>
          <p:spPr>
            <a:xfrm>
              <a:off x="0" y="-57150"/>
              <a:ext cx="1736053" cy="86995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1">
            <a:extLst>
              <a:ext uri="{FF2B5EF4-FFF2-40B4-BE49-F238E27FC236}">
                <a16:creationId xmlns:a16="http://schemas.microsoft.com/office/drawing/2014/main" id="{8105FA85-CF4F-7A7B-7E19-D41941AE52DD}"/>
              </a:ext>
            </a:extLst>
          </p:cNvPr>
          <p:cNvSpPr txBox="1"/>
          <p:nvPr/>
        </p:nvSpPr>
        <p:spPr>
          <a:xfrm>
            <a:off x="1217823" y="2121866"/>
            <a:ext cx="4206622" cy="3988912"/>
          </a:xfrm>
          <a:prstGeom prst="rect">
            <a:avLst/>
          </a:prstGeom>
          <a:noFill/>
        </p:spPr>
        <p:txBody>
          <a:bodyPr wrap="square" rtlCol="0">
            <a:spAutoFit/>
          </a:bodyPr>
          <a:lstStyle/>
          <a:p>
            <a:pPr algn="ctr"/>
            <a:r>
              <a:rPr lang="en-US" sz="2200" u="sng" dirty="0"/>
              <a:t>Warehouse Data:</a:t>
            </a:r>
          </a:p>
          <a:p>
            <a:endParaRPr lang="en-IN" dirty="0"/>
          </a:p>
          <a:p>
            <a:pPr>
              <a:lnSpc>
                <a:spcPct val="150000"/>
              </a:lnSpc>
            </a:pPr>
            <a:r>
              <a:rPr lang="en-US" dirty="0">
                <a:latin typeface="Times New Roman" panose="02020603050405020304" pitchFamily="18" charset="0"/>
                <a:cs typeface="Times New Roman" panose="02020603050405020304" pitchFamily="18" charset="0"/>
              </a:rPr>
              <a:t>o SKU </a:t>
            </a:r>
          </a:p>
          <a:p>
            <a:pPr>
              <a:lnSpc>
                <a:spcPct val="150000"/>
              </a:lnSpc>
            </a:pPr>
            <a:r>
              <a:rPr lang="en-US" dirty="0">
                <a:latin typeface="Times New Roman" panose="02020603050405020304" pitchFamily="18" charset="0"/>
                <a:cs typeface="Times New Roman" panose="02020603050405020304" pitchFamily="18" charset="0"/>
              </a:rPr>
              <a:t>o Brand</a:t>
            </a:r>
          </a:p>
          <a:p>
            <a:pPr>
              <a:lnSpc>
                <a:spcPct val="150000"/>
              </a:lnSpc>
            </a:pPr>
            <a:r>
              <a:rPr lang="en-US" dirty="0">
                <a:latin typeface="Times New Roman" panose="02020603050405020304" pitchFamily="18" charset="0"/>
                <a:cs typeface="Times New Roman" panose="02020603050405020304" pitchFamily="18" charset="0"/>
              </a:rPr>
              <a:t>o Family</a:t>
            </a:r>
          </a:p>
          <a:p>
            <a:pPr>
              <a:lnSpc>
                <a:spcPct val="150000"/>
              </a:lnSpc>
            </a:pPr>
            <a:r>
              <a:rPr lang="en-US" dirty="0">
                <a:latin typeface="Times New Roman" panose="02020603050405020304" pitchFamily="18" charset="0"/>
                <a:cs typeface="Times New Roman" panose="02020603050405020304" pitchFamily="18" charset="0"/>
              </a:rPr>
              <a:t>o Purchased From</a:t>
            </a:r>
          </a:p>
          <a:p>
            <a:pPr>
              <a:lnSpc>
                <a:spcPct val="150000"/>
              </a:lnSpc>
            </a:pPr>
            <a:r>
              <a:rPr lang="en-US" dirty="0">
                <a:latin typeface="Times New Roman" panose="02020603050405020304" pitchFamily="18" charset="0"/>
                <a:cs typeface="Times New Roman" panose="02020603050405020304" pitchFamily="18" charset="0"/>
              </a:rPr>
              <a:t>o Rack No.</a:t>
            </a:r>
          </a:p>
          <a:p>
            <a:pPr>
              <a:lnSpc>
                <a:spcPct val="150000"/>
              </a:lnSpc>
            </a:pPr>
            <a:r>
              <a:rPr lang="en-US" dirty="0">
                <a:latin typeface="Times New Roman" panose="02020603050405020304" pitchFamily="18" charset="0"/>
                <a:cs typeface="Times New Roman" panose="02020603050405020304" pitchFamily="18" charset="0"/>
              </a:rPr>
              <a:t>o Receive Date </a:t>
            </a:r>
          </a:p>
          <a:p>
            <a:pPr>
              <a:lnSpc>
                <a:spcPct val="150000"/>
              </a:lnSpc>
            </a:pPr>
            <a:r>
              <a:rPr lang="en-US" dirty="0">
                <a:latin typeface="Times New Roman" panose="02020603050405020304" pitchFamily="18" charset="0"/>
                <a:cs typeface="Times New Roman" panose="02020603050405020304" pitchFamily="18" charset="0"/>
              </a:rPr>
              <a:t>o Receive Qty. (in kgs)</a:t>
            </a:r>
          </a:p>
          <a:p>
            <a:pPr>
              <a:lnSpc>
                <a:spcPct val="150000"/>
              </a:lnSpc>
            </a:pPr>
            <a:r>
              <a:rPr lang="en-US" dirty="0">
                <a:latin typeface="Times New Roman" panose="02020603050405020304" pitchFamily="18" charset="0"/>
                <a:cs typeface="Times New Roman" panose="02020603050405020304" pitchFamily="18" charset="0"/>
              </a:rPr>
              <a:t>o Receive Pcs.  (in units)</a:t>
            </a:r>
            <a:endParaRPr lang="en-IN"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4CD9670C-E4DF-8873-42CB-F9C58E339264}"/>
              </a:ext>
            </a:extLst>
          </p:cNvPr>
          <p:cNvSpPr txBox="1"/>
          <p:nvPr/>
        </p:nvSpPr>
        <p:spPr>
          <a:xfrm>
            <a:off x="7006657" y="2121866"/>
            <a:ext cx="3927764" cy="3566617"/>
          </a:xfrm>
          <a:prstGeom prst="rect">
            <a:avLst/>
          </a:prstGeom>
          <a:noFill/>
        </p:spPr>
        <p:txBody>
          <a:bodyPr wrap="square" rtlCol="0">
            <a:spAutoFit/>
          </a:bodyPr>
          <a:lstStyle/>
          <a:p>
            <a:pPr algn="ctr"/>
            <a:r>
              <a:rPr lang="en-US" sz="2200" u="sng" dirty="0"/>
              <a:t>Sales Data:</a:t>
            </a:r>
          </a:p>
          <a:p>
            <a:endParaRPr lang="en-US" sz="2000" dirty="0"/>
          </a:p>
          <a:p>
            <a:pPr>
              <a:lnSpc>
                <a:spcPct val="150000"/>
              </a:lnSpc>
            </a:pPr>
            <a:r>
              <a:rPr lang="en-US" dirty="0">
                <a:latin typeface="Times New Roman" panose="02020603050405020304" pitchFamily="18" charset="0"/>
                <a:cs typeface="Times New Roman" panose="02020603050405020304" pitchFamily="18" charset="0"/>
              </a:rPr>
              <a:t>o SKU</a:t>
            </a:r>
          </a:p>
          <a:p>
            <a:pPr>
              <a:lnSpc>
                <a:spcPct val="150000"/>
              </a:lnSpc>
            </a:pPr>
            <a:r>
              <a:rPr lang="en-US" dirty="0">
                <a:latin typeface="Times New Roman" panose="02020603050405020304" pitchFamily="18" charset="0"/>
                <a:cs typeface="Times New Roman" panose="02020603050405020304" pitchFamily="18" charset="0"/>
              </a:rPr>
              <a:t>o Brand</a:t>
            </a:r>
          </a:p>
          <a:p>
            <a:pPr>
              <a:lnSpc>
                <a:spcPct val="150000"/>
              </a:lnSpc>
            </a:pPr>
            <a:r>
              <a:rPr lang="en-US" dirty="0">
                <a:latin typeface="Times New Roman" panose="02020603050405020304" pitchFamily="18" charset="0"/>
                <a:cs typeface="Times New Roman" panose="02020603050405020304" pitchFamily="18" charset="0"/>
              </a:rPr>
              <a:t>o Family</a:t>
            </a:r>
          </a:p>
          <a:p>
            <a:pPr>
              <a:lnSpc>
                <a:spcPct val="150000"/>
              </a:lnSpc>
            </a:pPr>
            <a:r>
              <a:rPr lang="en-US" dirty="0">
                <a:latin typeface="Times New Roman" panose="02020603050405020304" pitchFamily="18" charset="0"/>
                <a:cs typeface="Times New Roman" panose="02020603050405020304" pitchFamily="18" charset="0"/>
              </a:rPr>
              <a:t>o Sale Date</a:t>
            </a:r>
          </a:p>
          <a:p>
            <a:pPr>
              <a:lnSpc>
                <a:spcPct val="150000"/>
              </a:lnSpc>
            </a:pPr>
            <a:r>
              <a:rPr lang="en-US" dirty="0">
                <a:latin typeface="Times New Roman" panose="02020603050405020304" pitchFamily="18" charset="0"/>
                <a:cs typeface="Times New Roman" panose="02020603050405020304" pitchFamily="18" charset="0"/>
              </a:rPr>
              <a:t>o Sale Qty. (in kgs)</a:t>
            </a:r>
          </a:p>
          <a:p>
            <a:pPr>
              <a:lnSpc>
                <a:spcPct val="150000"/>
              </a:lnSpc>
            </a:pPr>
            <a:r>
              <a:rPr lang="en-US" dirty="0">
                <a:latin typeface="Times New Roman" panose="02020603050405020304" pitchFamily="18" charset="0"/>
                <a:cs typeface="Times New Roman" panose="02020603050405020304" pitchFamily="18" charset="0"/>
              </a:rPr>
              <a:t>o Sale Pcs. (in units)</a:t>
            </a:r>
          </a:p>
          <a:p>
            <a:pPr>
              <a:lnSpc>
                <a:spcPct val="150000"/>
              </a:lnSpc>
            </a:pPr>
            <a:r>
              <a:rPr lang="en-US" dirty="0">
                <a:latin typeface="Times New Roman" panose="02020603050405020304" pitchFamily="18" charset="0"/>
                <a:cs typeface="Times New Roman" panose="02020603050405020304" pitchFamily="18" charset="0"/>
              </a:rPr>
              <a:t>o Remark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871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8431AEE-D4DC-D349-A7C8-9166B5549B1B}"/>
              </a:ext>
            </a:extLst>
          </p:cNvPr>
          <p:cNvSpPr txBox="1"/>
          <p:nvPr/>
        </p:nvSpPr>
        <p:spPr>
          <a:xfrm>
            <a:off x="613063" y="342900"/>
            <a:ext cx="10432472" cy="646331"/>
          </a:xfrm>
          <a:prstGeom prst="rect">
            <a:avLst/>
          </a:prstGeom>
          <a:noFill/>
        </p:spPr>
        <p:txBody>
          <a:bodyPr wrap="square" rtlCol="0">
            <a:spAutoFit/>
          </a:bodyPr>
          <a:lstStyle/>
          <a:p>
            <a:r>
              <a:rPr lang="en-US" sz="3600" dirty="0">
                <a:latin typeface="Calibri Light (Headings)"/>
              </a:rPr>
              <a:t>RESULTS AND FINDINGS</a:t>
            </a:r>
            <a:endParaRPr lang="en-IN" sz="3600" dirty="0">
              <a:latin typeface="Calibri Light (Headings)"/>
            </a:endParaRPr>
          </a:p>
        </p:txBody>
      </p:sp>
      <p:graphicFrame>
        <p:nvGraphicFramePr>
          <p:cNvPr id="3" name="Chart 2">
            <a:extLst>
              <a:ext uri="{FF2B5EF4-FFF2-40B4-BE49-F238E27FC236}">
                <a16:creationId xmlns:a16="http://schemas.microsoft.com/office/drawing/2014/main" id="{B6EA5BB6-FACA-20E6-21F7-1B3E17F0EE51}"/>
              </a:ext>
            </a:extLst>
          </p:cNvPr>
          <p:cNvGraphicFramePr/>
          <p:nvPr>
            <p:extLst>
              <p:ext uri="{D42A27DB-BD31-4B8C-83A1-F6EECF244321}">
                <p14:modId xmlns:p14="http://schemas.microsoft.com/office/powerpoint/2010/main" val="3581797889"/>
              </p:ext>
            </p:extLst>
          </p:nvPr>
        </p:nvGraphicFramePr>
        <p:xfrm>
          <a:off x="403861" y="1544782"/>
          <a:ext cx="5425438" cy="33528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a:extLst>
              <a:ext uri="{FF2B5EF4-FFF2-40B4-BE49-F238E27FC236}">
                <a16:creationId xmlns:a16="http://schemas.microsoft.com/office/drawing/2014/main" id="{8FC7EB52-4E58-BECC-15E4-F3531A0F9171}"/>
              </a:ext>
            </a:extLst>
          </p:cNvPr>
          <p:cNvGraphicFramePr/>
          <p:nvPr>
            <p:extLst>
              <p:ext uri="{D42A27DB-BD31-4B8C-83A1-F6EECF244321}">
                <p14:modId xmlns:p14="http://schemas.microsoft.com/office/powerpoint/2010/main" val="1527108036"/>
              </p:ext>
            </p:extLst>
          </p:nvPr>
        </p:nvGraphicFramePr>
        <p:xfrm>
          <a:off x="5829299" y="1544782"/>
          <a:ext cx="5958840" cy="33528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a:extLst>
              <a:ext uri="{FF2B5EF4-FFF2-40B4-BE49-F238E27FC236}">
                <a16:creationId xmlns:a16="http://schemas.microsoft.com/office/drawing/2014/main" id="{F52848EC-490E-8866-F1FF-1AC7F195EA1C}"/>
              </a:ext>
            </a:extLst>
          </p:cNvPr>
          <p:cNvSpPr txBox="1"/>
          <p:nvPr/>
        </p:nvSpPr>
        <p:spPr>
          <a:xfrm>
            <a:off x="779318" y="4848982"/>
            <a:ext cx="5049981" cy="369332"/>
          </a:xfrm>
          <a:prstGeom prst="rect">
            <a:avLst/>
          </a:prstGeom>
          <a:noFill/>
        </p:spPr>
        <p:txBody>
          <a:bodyPr wrap="square" rtlCol="0">
            <a:spAutoFit/>
          </a:bodyPr>
          <a:lstStyle/>
          <a:p>
            <a:r>
              <a:rPr lang="en-IN" sz="1800" i="1" dirty="0">
                <a:ln w="0"/>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Sales Trend from August 2023 to July 2024</a:t>
            </a:r>
            <a:r>
              <a:rPr lang="en-IN" sz="1800" i="1" dirty="0">
                <a:solidFill>
                  <a:srgbClr val="44546A"/>
                </a:solidFill>
                <a:effectLst/>
                <a:latin typeface="Times New Roman" panose="02020603050405020304" pitchFamily="18" charset="0"/>
                <a:ea typeface="Times New Roman" panose="02020603050405020304" pitchFamily="18" charset="0"/>
              </a:rPr>
              <a:t>.</a:t>
            </a:r>
            <a:endParaRPr lang="en-IN" dirty="0"/>
          </a:p>
        </p:txBody>
      </p:sp>
      <p:sp>
        <p:nvSpPr>
          <p:cNvPr id="6" name="TextBox 5">
            <a:extLst>
              <a:ext uri="{FF2B5EF4-FFF2-40B4-BE49-F238E27FC236}">
                <a16:creationId xmlns:a16="http://schemas.microsoft.com/office/drawing/2014/main" id="{1CF5BAD1-9EBE-E8AF-9772-63CDDB37F46C}"/>
              </a:ext>
            </a:extLst>
          </p:cNvPr>
          <p:cNvSpPr txBox="1"/>
          <p:nvPr/>
        </p:nvSpPr>
        <p:spPr>
          <a:xfrm>
            <a:off x="6204756" y="4903416"/>
            <a:ext cx="5716383" cy="369332"/>
          </a:xfrm>
          <a:prstGeom prst="rect">
            <a:avLst/>
          </a:prstGeom>
          <a:noFill/>
        </p:spPr>
        <p:txBody>
          <a:bodyPr wrap="square" rtlCol="0">
            <a:spAutoFit/>
          </a:bodyPr>
          <a:lstStyle/>
          <a:p>
            <a:r>
              <a:rPr lang="en-IN" sz="1800" i="1" dirty="0">
                <a:ln w="0"/>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Comparative Brand wise Sales for year 2023 and 2024.</a:t>
            </a:r>
            <a:endParaRPr lang="en-IN"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701239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BC623A37-29FD-C781-9B11-ACEE17D802BA}"/>
              </a:ext>
            </a:extLst>
          </p:cNvPr>
          <p:cNvGraphicFramePr/>
          <p:nvPr>
            <p:extLst>
              <p:ext uri="{D42A27DB-BD31-4B8C-83A1-F6EECF244321}">
                <p14:modId xmlns:p14="http://schemas.microsoft.com/office/powerpoint/2010/main" val="352866226"/>
              </p:ext>
            </p:extLst>
          </p:nvPr>
        </p:nvGraphicFramePr>
        <p:xfrm>
          <a:off x="-334993" y="145472"/>
          <a:ext cx="5622231" cy="254577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a:extLst>
              <a:ext uri="{FF2B5EF4-FFF2-40B4-BE49-F238E27FC236}">
                <a16:creationId xmlns:a16="http://schemas.microsoft.com/office/drawing/2014/main" id="{30DF1411-2412-F070-CBA5-C89723E6E4C6}"/>
              </a:ext>
            </a:extLst>
          </p:cNvPr>
          <p:cNvGraphicFramePr/>
          <p:nvPr>
            <p:extLst>
              <p:ext uri="{D42A27DB-BD31-4B8C-83A1-F6EECF244321}">
                <p14:modId xmlns:p14="http://schemas.microsoft.com/office/powerpoint/2010/main" val="3644326301"/>
              </p:ext>
            </p:extLst>
          </p:nvPr>
        </p:nvGraphicFramePr>
        <p:xfrm>
          <a:off x="5172939" y="145472"/>
          <a:ext cx="6175666" cy="2989676"/>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a:extLst>
              <a:ext uri="{FF2B5EF4-FFF2-40B4-BE49-F238E27FC236}">
                <a16:creationId xmlns:a16="http://schemas.microsoft.com/office/drawing/2014/main" id="{5E26B3F8-75CD-69CD-E529-A897A1510A8C}"/>
              </a:ext>
            </a:extLst>
          </p:cNvPr>
          <p:cNvSpPr txBox="1"/>
          <p:nvPr/>
        </p:nvSpPr>
        <p:spPr>
          <a:xfrm>
            <a:off x="571500" y="2555428"/>
            <a:ext cx="4478481" cy="397096"/>
          </a:xfrm>
          <a:prstGeom prst="rect">
            <a:avLst/>
          </a:prstGeom>
          <a:noFill/>
        </p:spPr>
        <p:txBody>
          <a:bodyPr wrap="square" rtlCol="0">
            <a:spAutoFit/>
          </a:bodyPr>
          <a:lstStyle/>
          <a:p>
            <a:pPr marL="6350" marR="32385" indent="-6350" algn="ctr">
              <a:lnSpc>
                <a:spcPct val="150000"/>
              </a:lnSpc>
              <a:spcAft>
                <a:spcPts val="15"/>
              </a:spcAft>
            </a:pPr>
            <a:r>
              <a:rPr lang="en-IN" sz="1500" i="1" kern="100" dirty="0">
                <a:ln w="0"/>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Brand wise unsold SKUs lying in the warehouse.</a:t>
            </a:r>
            <a:endParaRPr lang="en-IN" sz="1500" kern="100" dirty="0">
              <a:ln w="0"/>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endParaRPr>
          </a:p>
        </p:txBody>
      </p:sp>
      <p:sp>
        <p:nvSpPr>
          <p:cNvPr id="6" name="TextBox 5">
            <a:extLst>
              <a:ext uri="{FF2B5EF4-FFF2-40B4-BE49-F238E27FC236}">
                <a16:creationId xmlns:a16="http://schemas.microsoft.com/office/drawing/2014/main" id="{78C353A2-3512-77A6-F460-4FF8824B5618}"/>
              </a:ext>
            </a:extLst>
          </p:cNvPr>
          <p:cNvSpPr txBox="1"/>
          <p:nvPr/>
        </p:nvSpPr>
        <p:spPr>
          <a:xfrm>
            <a:off x="6348845" y="3001926"/>
            <a:ext cx="5467350" cy="323165"/>
          </a:xfrm>
          <a:prstGeom prst="rect">
            <a:avLst/>
          </a:prstGeom>
          <a:noFill/>
        </p:spPr>
        <p:txBody>
          <a:bodyPr wrap="square" rtlCol="0">
            <a:spAutoFit/>
          </a:bodyPr>
          <a:lstStyle/>
          <a:p>
            <a:r>
              <a:rPr lang="en-IN" sz="1500" i="1" dirty="0">
                <a:ln w="0"/>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Comparative Family wise Sales for year 2023 and 2024</a:t>
            </a:r>
            <a:r>
              <a:rPr lang="en-IN" sz="1500" i="1" dirty="0">
                <a:solidFill>
                  <a:srgbClr val="44546A"/>
                </a:solidFill>
                <a:effectLst/>
                <a:latin typeface="Times New Roman" panose="02020603050405020304" pitchFamily="18" charset="0"/>
                <a:ea typeface="Times New Roman" panose="02020603050405020304" pitchFamily="18" charset="0"/>
              </a:rPr>
              <a:t>.</a:t>
            </a:r>
            <a:endParaRPr lang="en-IN" sz="1500" dirty="0"/>
          </a:p>
        </p:txBody>
      </p:sp>
      <mc:AlternateContent xmlns:mc="http://schemas.openxmlformats.org/markup-compatibility/2006" xmlns:cx1="http://schemas.microsoft.com/office/drawing/2015/9/8/chartex">
        <mc:Choice Requires="cx1">
          <p:graphicFrame>
            <p:nvGraphicFramePr>
              <p:cNvPr id="7" name="Chart 6">
                <a:extLst>
                  <a:ext uri="{FF2B5EF4-FFF2-40B4-BE49-F238E27FC236}">
                    <a16:creationId xmlns:a16="http://schemas.microsoft.com/office/drawing/2014/main" id="{FA220108-9071-3D57-25B4-0B46298F25D4}"/>
                  </a:ext>
                </a:extLst>
              </p:cNvPr>
              <p:cNvGraphicFramePr/>
              <p:nvPr>
                <p:extLst>
                  <p:ext uri="{D42A27DB-BD31-4B8C-83A1-F6EECF244321}">
                    <p14:modId xmlns:p14="http://schemas.microsoft.com/office/powerpoint/2010/main" val="2589660800"/>
                  </p:ext>
                </p:extLst>
              </p:nvPr>
            </p:nvGraphicFramePr>
            <p:xfrm>
              <a:off x="1506682" y="3532909"/>
              <a:ext cx="5994255" cy="3362311"/>
            </p:xfrm>
            <a:graphic>
              <a:graphicData uri="http://schemas.microsoft.com/office/drawing/2014/chartex">
                <cx:chart xmlns:cx="http://schemas.microsoft.com/office/drawing/2014/chartex" xmlns:r="http://schemas.openxmlformats.org/officeDocument/2006/relationships" r:id="rId4"/>
              </a:graphicData>
            </a:graphic>
          </p:graphicFrame>
        </mc:Choice>
        <mc:Fallback xmlns="">
          <p:pic>
            <p:nvPicPr>
              <p:cNvPr id="7" name="Chart 6">
                <a:extLst>
                  <a:ext uri="{FF2B5EF4-FFF2-40B4-BE49-F238E27FC236}">
                    <a16:creationId xmlns:a16="http://schemas.microsoft.com/office/drawing/2014/main" id="{FA220108-9071-3D57-25B4-0B46298F25D4}"/>
                  </a:ext>
                </a:extLst>
              </p:cNvPr>
              <p:cNvPicPr>
                <a:picLocks noGrp="1" noRot="1" noChangeAspect="1" noMove="1" noResize="1" noEditPoints="1" noAdjustHandles="1" noChangeArrowheads="1" noChangeShapeType="1"/>
              </p:cNvPicPr>
              <p:nvPr/>
            </p:nvPicPr>
            <p:blipFill>
              <a:blip r:embed="rId5"/>
              <a:stretch>
                <a:fillRect/>
              </a:stretch>
            </p:blipFill>
            <p:spPr>
              <a:xfrm>
                <a:off x="1506682" y="3532909"/>
                <a:ext cx="5994255" cy="3362311"/>
              </a:xfrm>
              <a:prstGeom prst="rect">
                <a:avLst/>
              </a:prstGeom>
            </p:spPr>
          </p:pic>
        </mc:Fallback>
      </mc:AlternateContent>
      <p:sp>
        <p:nvSpPr>
          <p:cNvPr id="8" name="TextBox 7">
            <a:extLst>
              <a:ext uri="{FF2B5EF4-FFF2-40B4-BE49-F238E27FC236}">
                <a16:creationId xmlns:a16="http://schemas.microsoft.com/office/drawing/2014/main" id="{583E7FD9-E283-46DE-85FA-B0ED35C019C7}"/>
              </a:ext>
            </a:extLst>
          </p:cNvPr>
          <p:cNvSpPr txBox="1"/>
          <p:nvPr/>
        </p:nvSpPr>
        <p:spPr>
          <a:xfrm>
            <a:off x="6908657" y="6174294"/>
            <a:ext cx="3314700" cy="323165"/>
          </a:xfrm>
          <a:prstGeom prst="rect">
            <a:avLst/>
          </a:prstGeom>
          <a:noFill/>
        </p:spPr>
        <p:txBody>
          <a:bodyPr wrap="square" rtlCol="0">
            <a:spAutoFit/>
          </a:bodyPr>
          <a:lstStyle/>
          <a:p>
            <a:r>
              <a:rPr lang="en-IN" sz="1500" i="1" dirty="0">
                <a:ln w="0"/>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Pareto Chart of Family wise Sales.</a:t>
            </a:r>
            <a:endParaRPr lang="en-IN" sz="15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312616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174F878-F22A-4E83-90B7-FF8501022E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028" y="270165"/>
            <a:ext cx="4883728" cy="5268190"/>
          </a:xfrm>
          <a:prstGeom prst="rect">
            <a:avLst/>
          </a:prstGeom>
        </p:spPr>
      </p:pic>
      <p:pic>
        <p:nvPicPr>
          <p:cNvPr id="4" name="Picture 3">
            <a:extLst>
              <a:ext uri="{FF2B5EF4-FFF2-40B4-BE49-F238E27FC236}">
                <a16:creationId xmlns:a16="http://schemas.microsoft.com/office/drawing/2014/main" id="{D1344B1F-EA85-E46D-B329-34D26A3585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31872" y="270165"/>
            <a:ext cx="6296891" cy="5268190"/>
          </a:xfrm>
          <a:prstGeom prst="rect">
            <a:avLst/>
          </a:prstGeom>
        </p:spPr>
      </p:pic>
      <p:sp>
        <p:nvSpPr>
          <p:cNvPr id="6" name="TextBox 5">
            <a:extLst>
              <a:ext uri="{FF2B5EF4-FFF2-40B4-BE49-F238E27FC236}">
                <a16:creationId xmlns:a16="http://schemas.microsoft.com/office/drawing/2014/main" id="{FDD6C5C5-26FF-4F01-A0E7-008BDFD0060B}"/>
              </a:ext>
            </a:extLst>
          </p:cNvPr>
          <p:cNvSpPr txBox="1"/>
          <p:nvPr/>
        </p:nvSpPr>
        <p:spPr>
          <a:xfrm>
            <a:off x="1579420" y="5631873"/>
            <a:ext cx="3647209" cy="369332"/>
          </a:xfrm>
          <a:prstGeom prst="rect">
            <a:avLst/>
          </a:prstGeom>
          <a:noFill/>
        </p:spPr>
        <p:txBody>
          <a:bodyPr wrap="square" rtlCol="0">
            <a:spAutoFit/>
          </a:bodyPr>
          <a:lstStyle/>
          <a:p>
            <a:r>
              <a:rPr lang="en-IN" sz="1800" i="1" dirty="0">
                <a:ln w="0"/>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Family wise FSN Analysis</a:t>
            </a:r>
            <a:r>
              <a:rPr lang="en-IN" sz="1800" i="1" dirty="0">
                <a:solidFill>
                  <a:srgbClr val="44546A"/>
                </a:solidFill>
                <a:effectLst/>
                <a:latin typeface="Times New Roman" panose="02020603050405020304" pitchFamily="18" charset="0"/>
                <a:ea typeface="Times New Roman" panose="02020603050405020304" pitchFamily="18" charset="0"/>
              </a:rPr>
              <a:t>.</a:t>
            </a:r>
            <a:endParaRPr lang="en-IN" dirty="0"/>
          </a:p>
        </p:txBody>
      </p:sp>
      <p:sp>
        <p:nvSpPr>
          <p:cNvPr id="7" name="TextBox 6">
            <a:extLst>
              <a:ext uri="{FF2B5EF4-FFF2-40B4-BE49-F238E27FC236}">
                <a16:creationId xmlns:a16="http://schemas.microsoft.com/office/drawing/2014/main" id="{3010D59D-05C1-E3F7-1C65-8AC15262567B}"/>
              </a:ext>
            </a:extLst>
          </p:cNvPr>
          <p:cNvSpPr txBox="1"/>
          <p:nvPr/>
        </p:nvSpPr>
        <p:spPr>
          <a:xfrm>
            <a:off x="7460672" y="5631873"/>
            <a:ext cx="4021282" cy="369332"/>
          </a:xfrm>
          <a:prstGeom prst="rect">
            <a:avLst/>
          </a:prstGeom>
          <a:noFill/>
        </p:spPr>
        <p:txBody>
          <a:bodyPr wrap="square" rtlCol="0">
            <a:spAutoFit/>
          </a:bodyPr>
          <a:lstStyle/>
          <a:p>
            <a:r>
              <a:rPr lang="en-IN" sz="1800" i="1" dirty="0">
                <a:ln w="0"/>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SKU wise FSN Analysis</a:t>
            </a:r>
            <a:r>
              <a:rPr lang="en-IN" sz="1800" i="1" dirty="0">
                <a:solidFill>
                  <a:srgbClr val="44546A"/>
                </a:solidFill>
                <a:effectLst/>
                <a:latin typeface="Times New Roman" panose="02020603050405020304" pitchFamily="18" charset="0"/>
                <a:ea typeface="Times New Roman" panose="02020603050405020304" pitchFamily="18" charset="0"/>
              </a:rPr>
              <a:t>.</a:t>
            </a:r>
            <a:endParaRPr lang="en-IN" dirty="0"/>
          </a:p>
        </p:txBody>
      </p:sp>
    </p:spTree>
    <p:extLst>
      <p:ext uri="{BB962C8B-B14F-4D97-AF65-F5344CB8AC3E}">
        <p14:creationId xmlns:p14="http://schemas.microsoft.com/office/powerpoint/2010/main" val="31744715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8C3F8E4-97BE-C3D9-32EA-B6DCC0A3B6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460" y="356754"/>
            <a:ext cx="5844540" cy="4648200"/>
          </a:xfrm>
          <a:prstGeom prst="rect">
            <a:avLst/>
          </a:prstGeom>
        </p:spPr>
      </p:pic>
      <p:graphicFrame>
        <p:nvGraphicFramePr>
          <p:cNvPr id="3" name="Chart 2">
            <a:extLst>
              <a:ext uri="{FF2B5EF4-FFF2-40B4-BE49-F238E27FC236}">
                <a16:creationId xmlns:a16="http://schemas.microsoft.com/office/drawing/2014/main" id="{E691E153-1E09-AA94-DE76-02395D17907B}"/>
              </a:ext>
            </a:extLst>
          </p:cNvPr>
          <p:cNvGraphicFramePr/>
          <p:nvPr>
            <p:extLst>
              <p:ext uri="{D42A27DB-BD31-4B8C-83A1-F6EECF244321}">
                <p14:modId xmlns:p14="http://schemas.microsoft.com/office/powerpoint/2010/main" val="2160643092"/>
              </p:ext>
            </p:extLst>
          </p:nvPr>
        </p:nvGraphicFramePr>
        <p:xfrm>
          <a:off x="6350000" y="356754"/>
          <a:ext cx="584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 name="Chart 3">
            <a:extLst>
              <a:ext uri="{FF2B5EF4-FFF2-40B4-BE49-F238E27FC236}">
                <a16:creationId xmlns:a16="http://schemas.microsoft.com/office/drawing/2014/main" id="{B30712F1-D051-1804-0C44-501BF52EAEB5}"/>
              </a:ext>
            </a:extLst>
          </p:cNvPr>
          <p:cNvGraphicFramePr/>
          <p:nvPr>
            <p:extLst>
              <p:ext uri="{D42A27DB-BD31-4B8C-83A1-F6EECF244321}">
                <p14:modId xmlns:p14="http://schemas.microsoft.com/office/powerpoint/2010/main" val="468738784"/>
              </p:ext>
            </p:extLst>
          </p:nvPr>
        </p:nvGraphicFramePr>
        <p:xfrm>
          <a:off x="6350000" y="3633354"/>
          <a:ext cx="5928360" cy="2743200"/>
        </p:xfrm>
        <a:graphic>
          <a:graphicData uri="http://schemas.openxmlformats.org/drawingml/2006/chart">
            <c:chart xmlns:c="http://schemas.openxmlformats.org/drawingml/2006/chart" xmlns:r="http://schemas.openxmlformats.org/officeDocument/2006/relationships" r:id="rId5"/>
          </a:graphicData>
        </a:graphic>
      </p:graphicFrame>
      <p:sp>
        <p:nvSpPr>
          <p:cNvPr id="5" name="TextBox 4">
            <a:extLst>
              <a:ext uri="{FF2B5EF4-FFF2-40B4-BE49-F238E27FC236}">
                <a16:creationId xmlns:a16="http://schemas.microsoft.com/office/drawing/2014/main" id="{5C6A6244-E923-85DC-CBCC-3059AC948538}"/>
              </a:ext>
            </a:extLst>
          </p:cNvPr>
          <p:cNvSpPr txBox="1"/>
          <p:nvPr/>
        </p:nvSpPr>
        <p:spPr>
          <a:xfrm>
            <a:off x="989447" y="5101936"/>
            <a:ext cx="4977245" cy="646331"/>
          </a:xfrm>
          <a:prstGeom prst="rect">
            <a:avLst/>
          </a:prstGeom>
          <a:noFill/>
        </p:spPr>
        <p:txBody>
          <a:bodyPr wrap="square" rtlCol="0">
            <a:spAutoFit/>
          </a:bodyPr>
          <a:lstStyle/>
          <a:p>
            <a:r>
              <a:rPr lang="en-IN" sz="1800" i="1" kern="100" dirty="0">
                <a:ln w="0"/>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Dead Sock of JM Marketing since 2022.</a:t>
            </a:r>
            <a:endParaRPr lang="en-IN" sz="1800" kern="100" dirty="0">
              <a:ln w="0"/>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endParaRPr>
          </a:p>
          <a:p>
            <a:endParaRPr lang="en-IN" dirty="0"/>
          </a:p>
        </p:txBody>
      </p:sp>
      <p:sp>
        <p:nvSpPr>
          <p:cNvPr id="6" name="TextBox 5">
            <a:extLst>
              <a:ext uri="{FF2B5EF4-FFF2-40B4-BE49-F238E27FC236}">
                <a16:creationId xmlns:a16="http://schemas.microsoft.com/office/drawing/2014/main" id="{B12690A9-B07C-0D88-F55E-84F2D2BE60FC}"/>
              </a:ext>
            </a:extLst>
          </p:cNvPr>
          <p:cNvSpPr txBox="1"/>
          <p:nvPr/>
        </p:nvSpPr>
        <p:spPr>
          <a:xfrm>
            <a:off x="7916602" y="2855314"/>
            <a:ext cx="2940627" cy="369332"/>
          </a:xfrm>
          <a:prstGeom prst="rect">
            <a:avLst/>
          </a:prstGeom>
          <a:noFill/>
        </p:spPr>
        <p:txBody>
          <a:bodyPr wrap="square" rtlCol="0">
            <a:spAutoFit/>
          </a:bodyPr>
          <a:lstStyle/>
          <a:p>
            <a:r>
              <a:rPr lang="en-IN" sz="1800" i="1" dirty="0">
                <a:ln w="0"/>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Trend on Net Quantity</a:t>
            </a:r>
            <a:r>
              <a:rPr lang="en-IN" sz="1800" i="1" dirty="0">
                <a:solidFill>
                  <a:srgbClr val="44546A"/>
                </a:solidFill>
                <a:effectLst/>
                <a:latin typeface="Times New Roman" panose="02020603050405020304" pitchFamily="18" charset="0"/>
                <a:ea typeface="Times New Roman" panose="02020603050405020304" pitchFamily="18" charset="0"/>
              </a:rPr>
              <a:t>.</a:t>
            </a:r>
            <a:endParaRPr lang="en-IN" dirty="0"/>
          </a:p>
        </p:txBody>
      </p:sp>
      <p:sp>
        <p:nvSpPr>
          <p:cNvPr id="7" name="TextBox 6">
            <a:extLst>
              <a:ext uri="{FF2B5EF4-FFF2-40B4-BE49-F238E27FC236}">
                <a16:creationId xmlns:a16="http://schemas.microsoft.com/office/drawing/2014/main" id="{4A0C3BEF-D1BA-FC57-6776-8D34EC774CC3}"/>
              </a:ext>
            </a:extLst>
          </p:cNvPr>
          <p:cNvSpPr txBox="1"/>
          <p:nvPr/>
        </p:nvSpPr>
        <p:spPr>
          <a:xfrm>
            <a:off x="8135389" y="6281304"/>
            <a:ext cx="2514600" cy="369332"/>
          </a:xfrm>
          <a:prstGeom prst="rect">
            <a:avLst/>
          </a:prstGeom>
          <a:noFill/>
        </p:spPr>
        <p:txBody>
          <a:bodyPr wrap="square" rtlCol="0">
            <a:spAutoFit/>
          </a:bodyPr>
          <a:lstStyle/>
          <a:p>
            <a:r>
              <a:rPr lang="en-IN" sz="1800" i="1" dirty="0">
                <a:ln w="0"/>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rPr>
              <a:t>Trend on Net Pcs</a:t>
            </a:r>
            <a:r>
              <a:rPr lang="en-IN" sz="1800" i="1" dirty="0">
                <a:solidFill>
                  <a:srgbClr val="44546A"/>
                </a:solidFill>
                <a:effectLst/>
                <a:latin typeface="Times New Roman" panose="02020603050405020304" pitchFamily="18" charset="0"/>
                <a:ea typeface="Times New Roman" panose="02020603050405020304" pitchFamily="18" charset="0"/>
              </a:rPr>
              <a:t>.</a:t>
            </a:r>
            <a:endParaRPr lang="en-IN" dirty="0"/>
          </a:p>
        </p:txBody>
      </p:sp>
    </p:spTree>
    <p:extLst>
      <p:ext uri="{BB962C8B-B14F-4D97-AF65-F5344CB8AC3E}">
        <p14:creationId xmlns:p14="http://schemas.microsoft.com/office/powerpoint/2010/main" val="3296610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2A3629-4BB7-679F-526F-E5BC1326D490}"/>
              </a:ext>
            </a:extLst>
          </p:cNvPr>
          <p:cNvSpPr txBox="1"/>
          <p:nvPr/>
        </p:nvSpPr>
        <p:spPr>
          <a:xfrm>
            <a:off x="498764" y="914064"/>
            <a:ext cx="11003972" cy="5632311"/>
          </a:xfrm>
          <a:prstGeom prst="rect">
            <a:avLst/>
          </a:prstGeom>
          <a:noFill/>
        </p:spPr>
        <p:txBody>
          <a:bodyPr wrap="square" rtlCol="0">
            <a:spAutoFit/>
          </a:bodyPr>
          <a:lstStyle/>
          <a:p>
            <a:pPr marL="285750" indent="-285750" algn="just">
              <a:buFont typeface="Wingdings" panose="05000000000000000000" pitchFamily="2" charset="2"/>
              <a:buChar char="q"/>
            </a:pPr>
            <a:r>
              <a:rPr lang="en-US" dirty="0"/>
              <a:t>It was recommended to stock more products from Hindalco and </a:t>
            </a:r>
            <a:r>
              <a:rPr lang="en-US" dirty="0" err="1"/>
              <a:t>Alom</a:t>
            </a:r>
            <a:r>
              <a:rPr lang="en-US" dirty="0"/>
              <a:t> brands, as significant growth in sales indicated a shift in customer preferences toward these brands.</a:t>
            </a:r>
          </a:p>
          <a:p>
            <a:pPr algn="just"/>
            <a:endParaRPr lang="en-US" dirty="0"/>
          </a:p>
          <a:p>
            <a:pPr marL="285750" indent="-285750" algn="just">
              <a:buFont typeface="Wingdings" panose="05000000000000000000" pitchFamily="2" charset="2"/>
              <a:buChar char="q"/>
            </a:pPr>
            <a:r>
              <a:rPr lang="en-US" dirty="0"/>
              <a:t>The firm should prioritize high-performing families while avoiding investment in underperforming ones like FLAT BAR and EURO SLIDING to reduce working capital blockage and holding costs. Additionally, strategies such as targeted marketing and product enhancements are recommended to address stagnation in key families, boosting demand and overall sales growth.</a:t>
            </a:r>
          </a:p>
          <a:p>
            <a:pPr algn="just"/>
            <a:endParaRPr lang="en-US" dirty="0"/>
          </a:p>
          <a:p>
            <a:pPr marL="285750" indent="-285750" algn="just">
              <a:buFont typeface="Wingdings" panose="05000000000000000000" pitchFamily="2" charset="2"/>
              <a:buChar char="q"/>
            </a:pPr>
            <a:r>
              <a:rPr lang="en-US" dirty="0"/>
              <a:t>It was advised to align the SKUs in the warehouse according to FSN (Fast, Slow, and Non-moving) categories to reduce order processing time and enhance customer satisfaction.</a:t>
            </a:r>
          </a:p>
          <a:p>
            <a:pPr algn="just"/>
            <a:endParaRPr lang="en-US" dirty="0"/>
          </a:p>
          <a:p>
            <a:pPr marL="285750" indent="-285750" algn="just">
              <a:buFont typeface="Wingdings" panose="05000000000000000000" pitchFamily="2" charset="2"/>
              <a:buChar char="q"/>
            </a:pPr>
            <a:r>
              <a:rPr lang="en-US" dirty="0"/>
              <a:t>It was further recommended to dispose of unsold SKUs in the warehouse, either as scrap or at a discounted price, to reduce holding costs and recover tied-up working capital.</a:t>
            </a:r>
          </a:p>
          <a:p>
            <a:pPr algn="just"/>
            <a:endParaRPr lang="en-US" dirty="0"/>
          </a:p>
          <a:p>
            <a:pPr marL="285750" indent="-285750" algn="just">
              <a:buFont typeface="Wingdings" panose="05000000000000000000" pitchFamily="2" charset="2"/>
              <a:buChar char="q"/>
            </a:pPr>
            <a:r>
              <a:rPr lang="en-US" dirty="0"/>
              <a:t>A shift toward weight-specific inventory management was proposed, as inventory growth is primarily driven by weight rather than volume. Developing weight-based warehousing strategies was recommended.</a:t>
            </a:r>
          </a:p>
          <a:p>
            <a:pPr algn="just"/>
            <a:endParaRPr lang="en-US" dirty="0"/>
          </a:p>
          <a:p>
            <a:pPr marL="285750" indent="-285750" algn="just">
              <a:buFont typeface="Wingdings" panose="05000000000000000000" pitchFamily="2" charset="2"/>
              <a:buChar char="q"/>
            </a:pPr>
            <a:r>
              <a:rPr lang="en-US" dirty="0"/>
              <a:t>It is recommended that the firm increase its advertising budget to implement a targeted marketing strategy designed to distinguish itself from its competitors in the Lenin Sarani area of Chandni Market, Kolkata.</a:t>
            </a:r>
          </a:p>
          <a:p>
            <a:endParaRPr lang="en-IN" dirty="0"/>
          </a:p>
        </p:txBody>
      </p:sp>
      <p:sp>
        <p:nvSpPr>
          <p:cNvPr id="5" name="TextBox 4">
            <a:extLst>
              <a:ext uri="{FF2B5EF4-FFF2-40B4-BE49-F238E27FC236}">
                <a16:creationId xmlns:a16="http://schemas.microsoft.com/office/drawing/2014/main" id="{4F0145E8-06EE-898D-573B-CD5211E9DEE0}"/>
              </a:ext>
            </a:extLst>
          </p:cNvPr>
          <p:cNvSpPr txBox="1"/>
          <p:nvPr/>
        </p:nvSpPr>
        <p:spPr>
          <a:xfrm>
            <a:off x="498764" y="134644"/>
            <a:ext cx="7481455" cy="646331"/>
          </a:xfrm>
          <a:prstGeom prst="rect">
            <a:avLst/>
          </a:prstGeom>
          <a:noFill/>
        </p:spPr>
        <p:txBody>
          <a:bodyPr wrap="square" rtlCol="0">
            <a:spAutoFit/>
          </a:bodyPr>
          <a:lstStyle/>
          <a:p>
            <a:r>
              <a:rPr lang="en-US" sz="3600" dirty="0"/>
              <a:t>RECOMMENDATIONS</a:t>
            </a:r>
            <a:endParaRPr lang="en-IN" sz="3600" dirty="0"/>
          </a:p>
        </p:txBody>
      </p:sp>
    </p:spTree>
    <p:extLst>
      <p:ext uri="{BB962C8B-B14F-4D97-AF65-F5344CB8AC3E}">
        <p14:creationId xmlns:p14="http://schemas.microsoft.com/office/powerpoint/2010/main" val="614187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CA986-90E2-8245-CF5C-E3B9FBCBC679}"/>
              </a:ext>
            </a:extLst>
          </p:cNvPr>
          <p:cNvSpPr>
            <a:spLocks noGrp="1"/>
          </p:cNvSpPr>
          <p:nvPr>
            <p:ph type="title"/>
          </p:nvPr>
        </p:nvSpPr>
        <p:spPr/>
        <p:txBody>
          <a:bodyPr/>
          <a:lstStyle/>
          <a:p>
            <a:r>
              <a:rPr lang="en-IN" dirty="0">
                <a:hlinkClick r:id="rId2"/>
              </a:rPr>
              <a:t>BDM DATA </a:t>
            </a:r>
            <a:endParaRPr lang="en-IN" dirty="0"/>
          </a:p>
        </p:txBody>
      </p:sp>
      <p:pic>
        <p:nvPicPr>
          <p:cNvPr id="2050" name="Picture 2">
            <a:extLst>
              <a:ext uri="{FF2B5EF4-FFF2-40B4-BE49-F238E27FC236}">
                <a16:creationId xmlns:a16="http://schemas.microsoft.com/office/drawing/2014/main" id="{DC0CD1F2-492E-58CD-C12A-3F65040A647F}"/>
              </a:ext>
            </a:extLst>
          </p:cNvPr>
          <p:cNvPicPr>
            <a:picLocks noGrp="1" noChangeAspect="1" noChangeArrowheads="1"/>
          </p:cNvPicPr>
          <p:nvPr>
            <p:ph idx="1"/>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61188" y="1953534"/>
            <a:ext cx="6312310" cy="38376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35941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3F296A"/>
      </a:dk2>
      <a:lt2>
        <a:srgbClr val="EBEBEB"/>
      </a:lt2>
      <a:accent1>
        <a:srgbClr val="E84574"/>
      </a:accent1>
      <a:accent2>
        <a:srgbClr val="798FF2"/>
      </a:accent2>
      <a:accent3>
        <a:srgbClr val="95C369"/>
      </a:accent3>
      <a:accent4>
        <a:srgbClr val="EE875A"/>
      </a:accent4>
      <a:accent5>
        <a:srgbClr val="C363E8"/>
      </a:accent5>
      <a:accent6>
        <a:srgbClr val="6AADC8"/>
      </a:accent6>
      <a:hlink>
        <a:srgbClr val="FE80C7"/>
      </a:hlink>
      <a:folHlink>
        <a:srgbClr val="FBA3EC"/>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61DDDE80-2DFA-4F2A-B66F-72059846BD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Celestial</Template>
  <TotalTime>347</TotalTime>
  <Words>606</Words>
  <Application>Microsoft Office PowerPoint</Application>
  <PresentationFormat>Widescreen</PresentationFormat>
  <Paragraphs>68</Paragraphs>
  <Slides>10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Calibri</vt:lpstr>
      <vt:lpstr>Calibri (Body)</vt:lpstr>
      <vt:lpstr>Calibri Light</vt:lpstr>
      <vt:lpstr>Calibri Light (Headings)</vt:lpstr>
      <vt:lpstr>Times New Roman</vt:lpstr>
      <vt:lpstr>Wingdings</vt:lpstr>
      <vt:lpstr>Celestial</vt:lpstr>
      <vt:lpstr>Enhancing Operational Efficiency and Driving Business Growth at JM Marketing</vt:lpstr>
      <vt:lpstr>Business background</vt:lpstr>
      <vt:lpstr>Challenges</vt:lpstr>
      <vt:lpstr>PowerPoint Presentation</vt:lpstr>
      <vt:lpstr>PowerPoint Presentation</vt:lpstr>
      <vt:lpstr>PowerPoint Presentation</vt:lpstr>
      <vt:lpstr>PowerPoint Presentation</vt:lpstr>
      <vt:lpstr>PowerPoint Presentation</vt:lpstr>
      <vt:lpstr>PowerPoint Presentation</vt:lpstr>
      <vt:lpstr>BDM DATA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Avnish Jajodia</dc:creator>
  <cp:lastModifiedBy>Avnish Jajodia</cp:lastModifiedBy>
  <cp:revision>13</cp:revision>
  <dcterms:created xsi:type="dcterms:W3CDTF">2024-11-25T18:08:20Z</dcterms:created>
  <dcterms:modified xsi:type="dcterms:W3CDTF">2024-12-02T08:33:08Z</dcterms:modified>
</cp:coreProperties>
</file>